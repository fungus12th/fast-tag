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b902f1e-93d1-f572-ae43-8efe1709d4fc}">
          <p14:sldIdLst>
            <p14:sldId id="256"/>
            <p14:sldId id="257"/>
          </p14:sldIdLst>
        </p14:section>
        <p14:section name="What we built" id="{4ed39f8d-3df2-3672-0f18-69edc2ccfd7d}">
          <p14:sldIdLst>
            <p14:sldId id="258"/>
            <p14:sldId id="259"/>
            <p14:sldId id="260"/>
          </p14:sldIdLst>
        </p14:section>
        <p14:section name="Checking and next" id="{fb6d783f-ee36-4514-c337-806758ef6801}">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2B"/>
                </a:solidFill>
                <a:latin typeface="+mn-lt"/>
              </a:defRPr>
            </a:pPr>
            <a:r>
              <a:rPr sz="1400" b="0" i="0" u="none" strike="noStrike">
                <a:solidFill>
                  <a:srgbClr val="1F3A2B"/>
                </a:solidFill>
                <a:latin typeface="+mn-lt"/>
              </a:rPr>
              <a:t>Pings received vs events kept, one window</a:t>
            </a:r>
          </a:p>
        </c:rich>
      </c:tx>
      <c:layout/>
      <c:overlay val="0"/>
    </c:title>
    <c:autoTitleDeleted val="0"/>
    <c:plotArea>
      <c:layout/>
      <c:barChart>
        <c:barDir val="col"/>
        <c:grouping val="clustered"/>
        <c:varyColors val="0"/>
        <c:ser>
          <c:idx val="0"/>
          <c:order val="0"/>
          <c:tx>
            <c:strRef>
              <c:f>Sheet1!$B$1</c:f>
              <c:strCache>
                <c:ptCount val="1"/>
                <c:pt idx="0">
                  <c:v>Pings received</c:v>
                </c:pt>
              </c:strCache>
            </c:strRef>
          </c:tx>
          <c:spPr>
            <a:solidFill>
              <a:srgbClr val="8CBF9A"/>
            </a:solidFill>
            <a:effectLst/>
          </c:spPr>
          <c:invertIfNegative val="0"/>
          <c:dLbls>
            <c:numFmt formatCode="#,##0" sourceLinked="0"/>
            <c:txPr>
              <a:bodyPr/>
              <a:lstStyle/>
              <a:p>
                <a:pPr>
                  <a:defRPr b="0" i="0" strike="noStrike" sz="1400" u="none">
                    <a:solidFill>
                      <a:srgbClr val="1F3A2B"/>
                    </a:solidFill>
                    <a:latin typeface="+mn-lt"/>
                  </a:defRPr>
                </a:pPr>
              </a:p>
            </c:txPr>
            <c:showLegendKey val="0"/>
            <c:showVal val="1"/>
            <c:showCatName val="0"/>
            <c:showSerName val="0"/>
            <c:showPercent val="0"/>
            <c:showBubbleSize val="0"/>
            <c:showLeaderLines val="0"/>
          </c:dLbls>
          <c:cat>
            <c:multiLvlStrRef>
              <c:f>Sheet1!$A$2:$A$4</c:f>
              <c:multiLvlStrCache>
                <c:ptCount val="3"/>
                <c:lvl>
                  <c:pt idx="0">
                    <c:v>Plaza 201</c:v>
                  </c:pt>
                  <c:pt idx="1">
                    <c:v>Plaza 202</c:v>
                  </c:pt>
                  <c:pt idx="2">
                    <c:v>Plaza 203</c:v>
                  </c:pt>
                </c:lvl>
              </c:multiLvlStrCache>
            </c:multiLvlStrRef>
          </c:cat>
          <c:val>
            <c:numRef>
              <c:f>Sheet1!$B$2:$B$4</c:f>
              <c:numCache>
                <c:formatCode>General</c:formatCode>
                <c:ptCount val="3"/>
                <c:pt idx="0">
                  <c:v>7</c:v>
                </c:pt>
                <c:pt idx="1">
                  <c:v>3</c:v>
                </c:pt>
                <c:pt idx="2">
                  <c:v>2</c:v>
                </c:pt>
              </c:numCache>
            </c:numRef>
          </c:val>
        </c:ser>
        <c:ser>
          <c:idx val="1"/>
          <c:order val="1"/>
          <c:tx>
            <c:strRef>
              <c:f>Sheet1!$C$1</c:f>
              <c:strCache>
                <c:ptCount val="1"/>
                <c:pt idx="0">
                  <c:v>Events kept</c:v>
                </c:pt>
              </c:strCache>
            </c:strRef>
          </c:tx>
          <c:spPr>
            <a:solidFill>
              <a:srgbClr val="E8A91F"/>
            </a:solidFill>
            <a:effectLst/>
          </c:spPr>
          <c:invertIfNegative val="0"/>
          <c:dLbls>
            <c:numFmt formatCode="#,##0" sourceLinked="0"/>
            <c:txPr>
              <a:bodyPr/>
              <a:lstStyle/>
              <a:p>
                <a:pPr>
                  <a:defRPr b="0" i="0" strike="noStrike" sz="1400" u="none">
                    <a:solidFill>
                      <a:srgbClr val="1F3A2B"/>
                    </a:solidFill>
                    <a:latin typeface="+mn-lt"/>
                  </a:defRPr>
                </a:pPr>
              </a:p>
            </c:txPr>
            <c:showLegendKey val="0"/>
            <c:showVal val="1"/>
            <c:showCatName val="0"/>
            <c:showSerName val="0"/>
            <c:showPercent val="0"/>
            <c:showBubbleSize val="0"/>
            <c:showLeaderLines val="0"/>
          </c:dLbls>
          <c:cat>
            <c:multiLvlStrRef>
              <c:f>Sheet1!$A$2:$A$4</c:f>
              <c:multiLvlStrCache>
                <c:ptCount val="3"/>
                <c:lvl>
                  <c:pt idx="0">
                    <c:v>Plaza 201</c:v>
                  </c:pt>
                  <c:pt idx="1">
                    <c:v>Plaza 202</c:v>
                  </c:pt>
                  <c:pt idx="2">
                    <c:v>Plaza 203</c:v>
                  </c:pt>
                </c:lvl>
              </c:multiLvlStrCache>
            </c:multiLvlStrRef>
          </c:cat>
          <c:val>
            <c:numRef>
              <c:f>Sheet1!$C$2:$C$4</c:f>
              <c:numCache>
                <c:formatCode>General</c:formatCode>
                <c:ptCount val="3"/>
                <c:pt idx="0">
                  <c:v>1</c:v>
                </c:pt>
                <c:pt idx="1">
                  <c:v>1</c:v>
                </c:pt>
                <c:pt idx="2">
                  <c:v>1</c:v>
                </c:pt>
              </c:numCache>
            </c:numRef>
          </c:val>
        </c:ser>
        <c:dLbls>
          <c:numFmt formatCode="#,##0" sourceLinked="0"/>
          <c:txPr>
            <a:bodyPr/>
            <a:lstStyle/>
            <a:p>
              <a:pPr>
                <a:defRPr b="0" i="0" strike="noStrike" sz="1400" u="none">
                  <a:solidFill>
                    <a:srgbClr val="1F3A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3A2B"/>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D5E6D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F6B4A"/>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400">
              <a:solidFill>
                <a:srgbClr val="1F3A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DA-1 was the design. For DA-2 we actually built the first two layers (NoSQL and the batch processor) and a small website to watch them. The dots on the right are the whole idea. Twelve pings come in, three events come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is how a ping travels. The dashed box on the right is DA-3, so we are not claiming the ledger is hooked up yet. The dashboard sits underneath and reads from the NoSQL layer and the batch processor, that is why it has two lines going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the dashboard shows on the NoSQL side. The point is that nothing smart happens here. It only has to accept rows quickly. Notice the rows are grouped by plaza and newest first, which is what the partition key and clustering order give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 idling at a toll gate gets read over and over. Seven reads here. We only want to bill it once, so the batch job keeps the ping with the strongest signal, which is the amber one. Every plaza and tag gets the same treatment, so 12 raw pings become 3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website we run locally. Top row has the two counters, bottom row has the two tables. If you want to know whether the batch job dropped the right pings, look at the left table and the right table together. Swap this redrawn layout for a real screenshot if your examiner wants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the same sample window as before. Seven pings become one, three become one, two become one. The three cards at the top are the things we look for on the dashboard. The amber card is an honest gap: the window is fixed at 60 seconds, so a car that sits across the boundary can be counted in two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ledger is the missing piece. DA-3 connects the two sides through the stored procedure from DA-1 and then stress tests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6035040"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731520" y="1280160"/>
            <a:ext cx="6035040" cy="1737360"/>
          </a:xfrm>
          <a:prstGeom prst="rect">
            <a:avLst/>
          </a:prstGeom>
          <a:noFill/>
          <a:ln/>
        </p:spPr>
        <p:txBody>
          <a:bodyPr wrap="square" rtlCol="0"/>
          <a:lstStyle>
            <a:lvl1pPr algn="l" indent="0" marL="0">
              <a:buNone/>
              <a:defRPr lang="en-US" sz="4600" b="1" dirty="0">
                <a:solidFill>
                  <a:schemeClr val="tx1"/>
                </a:solidFill>
              </a:defRPr>
            </a:lvl1pPr>
          </a:lstStyle>
          <a:p>
            <a:pPr algn="l" indent="0" marL="0">
              <a:buNone/>
            </a:pPr>
            <a:endParaRPr lang="en-US" sz="4600" dirty="0"/>
          </a:p>
        </p:txBody>
      </p:sp>
      <p:sp>
        <p:nvSpPr>
          <p:cNvPr id="4" name="Text 0"/>
          <p:cNvSpPr/>
          <p:nvPr>
            <p:ph idx="102" type="body" hasCustomPrompt="1"/>
          </p:nvPr>
        </p:nvSpPr>
        <p:spPr>
          <a:xfrm>
            <a:off x="731520" y="3291840"/>
            <a:ext cx="5760720" cy="914400"/>
          </a:xfrm>
          <a:prstGeom prst="rect">
            <a:avLst/>
          </a:prstGeom>
          <a:noFill/>
          <a:ln/>
        </p:spPr>
        <p:txBody>
          <a:bodyPr wrap="square" rtlCol="0"/>
          <a:lstStyle>
            <a:lvl1pPr indent="0" marL="0">
              <a:buNone/>
              <a:defRPr lang="en-US" sz="2000" dirty="0">
                <a:solidFill>
                  <a:schemeClr val="tx1"/>
                </a:solidFill>
              </a:defRPr>
            </a:lvl1pPr>
          </a:lstStyle>
          <a:p>
            <a:pPr indent="0" marL="0">
              <a:buNone/>
            </a:pPr>
            <a:endParaRPr lang="en-US" sz="2000" dirty="0"/>
          </a:p>
        </p:txBody>
      </p:sp>
      <p:sp>
        <p:nvSpPr>
          <p:cNvPr id="5" name="Text 0"/>
          <p:cNvSpPr/>
          <p:nvPr>
            <p:ph idx="103" type="body" hasCustomPrompt="1"/>
          </p:nvPr>
        </p:nvSpPr>
        <p:spPr>
          <a:xfrm>
            <a:off x="731520" y="4663440"/>
            <a:ext cx="5760720" cy="914400"/>
          </a:xfrm>
          <a:prstGeom prst="rect">
            <a:avLst/>
          </a:prstGeom>
          <a:noFill/>
          <a:ln/>
        </p:spPr>
        <p:txBody>
          <a:bodyPr wrap="square" rtlCol="0"/>
          <a:lstStyle>
            <a:lvl1pPr indent="0" marL="0">
              <a:buNone/>
              <a:defRPr lang="en-US" sz="1400" dirty="0">
                <a:solidFill>
                  <a:schemeClr val="tx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100" dirty="0">
                <a:solidFill>
                  <a:schemeClr val="tx2"/>
                </a:solidFill>
              </a:rPr>
              <a:t>DA-2  ·  FASTag Toll Ledger  ·  BACSE202</a:t>
            </a:r>
            <a:endParaRPr lang="en-US" sz="1100" dirty="0"/>
          </a:p>
        </p:txBody>
      </p:sp>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731520"/>
            <a:ext cx="603504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BACSE202  ·  DIGITAL ASSIGNMENT 2</a:t>
            </a:r>
            <a:endParaRPr lang="en-US" sz="1400" dirty="0"/>
          </a:p>
        </p:txBody>
      </p:sp>
      <p:sp>
        <p:nvSpPr>
          <p:cNvPr id="3" name="Text 0"/>
          <p:cNvSpPr/>
          <p:nvPr>
            <p:ph idx="101" type="title" hasCustomPrompt="1"/>
          </p:nvPr>
        </p:nvSpPr>
        <p:spPr>
          <a:xfrm>
            <a:off x="731520" y="1280160"/>
            <a:ext cx="6035040" cy="1737360"/>
          </a:xfrm>
          <a:prstGeom prst="rect">
            <a:avLst/>
          </a:prstGeom>
          <a:noFill/>
          <a:ln/>
        </p:spPr>
        <p:txBody>
          <a:bodyPr wrap="square" lIns="0" tIns="0" rIns="0" bIns="0" rtlCol="0" anchor="t"/>
          <a:lstStyle/>
          <a:p>
            <a:pPr algn="l" indent="0" marL="0">
              <a:buNone/>
            </a:pPr>
            <a:r>
              <a:rPr lang="en-US" sz="4600" b="1" dirty="0">
                <a:solidFill>
                  <a:schemeClr val="tx1"/>
                </a:solidFill>
              </a:rPr>
              <a:t>FASTag Toll Reconciliation Ledger</a:t>
            </a:r>
            <a:endParaRPr lang="en-US" sz="4600" dirty="0"/>
          </a:p>
        </p:txBody>
      </p:sp>
      <p:sp>
        <p:nvSpPr>
          <p:cNvPr id="4" name="Text 0"/>
          <p:cNvSpPr/>
          <p:nvPr>
            <p:ph idx="102" type="body" hasCustomPrompt="1"/>
          </p:nvPr>
        </p:nvSpPr>
        <p:spPr>
          <a:xfrm>
            <a:off x="731520" y="3291840"/>
            <a:ext cx="5760720" cy="914400"/>
          </a:xfrm>
          <a:prstGeom prst="rect">
            <a:avLst/>
          </a:prstGeom>
          <a:noFill/>
          <a:ln/>
        </p:spPr>
        <p:txBody>
          <a:bodyPr wrap="square" lIns="0" tIns="0" rIns="0" bIns="0" rtlCol="0" anchor="t"/>
          <a:lstStyle/>
          <a:p>
            <a:pPr indent="0" marL="0">
              <a:buNone/>
            </a:pPr>
            <a:r>
              <a:rPr lang="en-US" sz="2000" dirty="0">
                <a:solidFill>
                  <a:schemeClr val="tx1"/>
                </a:solidFill>
              </a:rPr>
              <a:t>DA-2: the NoSQL layer, the batch processor, and a small dashboard to watch both of them work</a:t>
            </a:r>
            <a:endParaRPr lang="en-US" sz="2000" dirty="0"/>
          </a:p>
        </p:txBody>
      </p:sp>
      <p:sp>
        <p:nvSpPr>
          <p:cNvPr id="5" name="Text 0"/>
          <p:cNvSpPr/>
          <p:nvPr>
            <p:ph idx="103" type="body" hasCustomPrompt="1"/>
          </p:nvPr>
        </p:nvSpPr>
        <p:spPr>
          <a:xfrm>
            <a:off x="731520" y="4663440"/>
            <a:ext cx="5760720" cy="914400"/>
          </a:xfrm>
          <a:prstGeom prst="rect">
            <a:avLst/>
          </a:prstGeom>
          <a:noFill/>
          <a:ln/>
        </p:spPr>
        <p:txBody>
          <a:bodyPr wrap="square" lIns="0" tIns="0" rIns="0" bIns="0" rtlCol="0" anchor="t"/>
          <a:lstStyle/>
          <a:p>
            <a:pPr indent="0" marL="0">
              <a:buNone/>
            </a:pPr>
            <a:r>
              <a:rPr lang="en-US" sz="1400" dirty="0">
                <a:solidFill>
                  <a:schemeClr val="tx2"/>
                </a:solidFill>
              </a:rPr>
              <a:t>Saifan Mohideen   25BCE1201</a:t>
            </a:r>
            <a:endParaRPr lang="en-US" sz="1400" dirty="0"/>
          </a:p>
          <a:p>
            <a:pPr indent="0" marL="0">
              <a:buNone/>
            </a:pPr>
            <a:r>
              <a:rPr lang="en-US" sz="1400" dirty="0">
                <a:solidFill>
                  <a:schemeClr val="tx2"/>
                </a:solidFill>
              </a:rPr>
              <a:t>Vedant Rajesh Mathapati   25BCE1292</a:t>
            </a:r>
            <a:endParaRPr lang="en-US" sz="1400" dirty="0"/>
          </a:p>
          <a:p>
            <a:pPr indent="0" marL="0">
              <a:buNone/>
            </a:pPr>
            <a:r>
              <a:rPr lang="en-US" sz="1400" dirty="0">
                <a:solidFill>
                  <a:schemeClr val="tx2"/>
                </a:solidFill>
              </a:rPr>
              <a:t>Ramsha Riyasat Fatima   25BCE1117</a:t>
            </a:r>
            <a:endParaRPr lang="en-US" sz="1400" dirty="0"/>
          </a:p>
        </p:txBody>
      </p:sp>
      <p:sp>
        <p:nvSpPr>
          <p:cNvPr id="6" name="ping-panel"/>
          <p:cNvSpPr/>
          <p:nvPr/>
        </p:nvSpPr>
        <p:spPr>
          <a:xfrm>
            <a:off x="7223760" y="914400"/>
            <a:ext cx="4434840" cy="4937760"/>
          </a:xfrm>
          <a:prstGeom prst="roundRect">
            <a:avLst>
              <a:gd name="adj" fmla="val 2474"/>
            </a:avLst>
          </a:prstGeom>
          <a:solidFill>
            <a:schemeClr val="bg2"/>
          </a:solidFill>
          <a:ln/>
          <a:effectLst>
            <a:outerShdw sx="100000" sy="100000" kx="0" ky="0" algn="bl" rotWithShape="0" blurRad="101600" dist="25400" dir="5400000">
              <a:srgbClr val="1F3A2B">
                <a:alpha val="12000"/>
              </a:srgbClr>
            </a:outerShdw>
          </a:effectLst>
        </p:spPr>
      </p:sp>
      <p:sp>
        <p:nvSpPr>
          <p:cNvPr id="7" name="Text 5"/>
          <p:cNvSpPr txBox="1"/>
          <p:nvPr/>
        </p:nvSpPr>
        <p:spPr>
          <a:xfrm>
            <a:off x="7498080" y="1280160"/>
            <a:ext cx="3931920" cy="320040"/>
          </a:xfrm>
          <a:prstGeom prst="rect">
            <a:avLst/>
          </a:prstGeom>
          <a:noFill/>
          <a:ln/>
        </p:spPr>
        <p:txBody>
          <a:bodyPr wrap="square" lIns="0" tIns="0" rIns="0" bIns="0" rtlCol="0" anchor="t"/>
          <a:lstStyle/>
          <a:p>
            <a:pPr indent="0" marL="0">
              <a:buNone/>
            </a:pPr>
            <a:r>
              <a:rPr lang="en-US" sz="1400" b="1" dirty="0">
                <a:solidFill>
                  <a:schemeClr val="tx2"/>
                </a:solidFill>
              </a:rPr>
              <a:t>Plaza 201  ·  7 pings</a:t>
            </a:r>
            <a:endParaRPr lang="en-US" sz="1400" dirty="0"/>
          </a:p>
        </p:txBody>
      </p:sp>
      <p:sp>
        <p:nvSpPr>
          <p:cNvPr id="8" name="ping-201-0"/>
          <p:cNvSpPr/>
          <p:nvPr/>
        </p:nvSpPr>
        <p:spPr>
          <a:xfrm>
            <a:off x="7498080" y="1737360"/>
            <a:ext cx="365760" cy="365760"/>
          </a:xfrm>
          <a:prstGeom prst="ellipse">
            <a:avLst/>
          </a:prstGeom>
          <a:solidFill>
            <a:schemeClr val="accent4"/>
          </a:solidFill>
          <a:ln w="15875">
            <a:solidFill>
              <a:schemeClr val="accent3"/>
            </a:solidFill>
            <a:prstDash val="solid"/>
          </a:ln>
        </p:spPr>
      </p:sp>
      <p:sp>
        <p:nvSpPr>
          <p:cNvPr id="9" name="ping-201-1"/>
          <p:cNvSpPr/>
          <p:nvPr/>
        </p:nvSpPr>
        <p:spPr>
          <a:xfrm>
            <a:off x="7973568" y="1737360"/>
            <a:ext cx="365760" cy="365760"/>
          </a:xfrm>
          <a:prstGeom prst="ellipse">
            <a:avLst/>
          </a:prstGeom>
          <a:solidFill>
            <a:schemeClr val="accent4"/>
          </a:solidFill>
          <a:ln w="15875">
            <a:solidFill>
              <a:schemeClr val="accent3"/>
            </a:solidFill>
            <a:prstDash val="solid"/>
          </a:ln>
        </p:spPr>
      </p:sp>
      <p:sp>
        <p:nvSpPr>
          <p:cNvPr id="10" name="ping-201-2"/>
          <p:cNvSpPr/>
          <p:nvPr/>
        </p:nvSpPr>
        <p:spPr>
          <a:xfrm>
            <a:off x="8449056" y="1737360"/>
            <a:ext cx="365760" cy="365760"/>
          </a:xfrm>
          <a:prstGeom prst="ellipse">
            <a:avLst/>
          </a:prstGeom>
          <a:solidFill>
            <a:schemeClr val="accent4"/>
          </a:solidFill>
          <a:ln w="15875">
            <a:solidFill>
              <a:schemeClr val="accent3"/>
            </a:solidFill>
            <a:prstDash val="solid"/>
          </a:ln>
        </p:spPr>
      </p:sp>
      <p:sp>
        <p:nvSpPr>
          <p:cNvPr id="11" name="ping-201-3"/>
          <p:cNvSpPr/>
          <p:nvPr/>
        </p:nvSpPr>
        <p:spPr>
          <a:xfrm>
            <a:off x="8924544" y="1737360"/>
            <a:ext cx="365760" cy="365760"/>
          </a:xfrm>
          <a:prstGeom prst="ellipse">
            <a:avLst/>
          </a:prstGeom>
          <a:solidFill>
            <a:schemeClr val="accent4"/>
          </a:solidFill>
          <a:ln w="15875">
            <a:solidFill>
              <a:schemeClr val="accent3"/>
            </a:solidFill>
            <a:prstDash val="solid"/>
          </a:ln>
        </p:spPr>
      </p:sp>
      <p:sp>
        <p:nvSpPr>
          <p:cNvPr id="12" name="ping-201-4"/>
          <p:cNvSpPr/>
          <p:nvPr/>
        </p:nvSpPr>
        <p:spPr>
          <a:xfrm>
            <a:off x="9400032" y="1737360"/>
            <a:ext cx="365760" cy="365760"/>
          </a:xfrm>
          <a:prstGeom prst="ellipse">
            <a:avLst/>
          </a:prstGeom>
          <a:solidFill>
            <a:schemeClr val="accent2"/>
          </a:solidFill>
          <a:ln w="15875">
            <a:solidFill>
              <a:schemeClr val="accent2"/>
            </a:solidFill>
            <a:prstDash val="solid"/>
          </a:ln>
        </p:spPr>
      </p:sp>
      <p:sp>
        <p:nvSpPr>
          <p:cNvPr id="13" name="ping-201-5"/>
          <p:cNvSpPr/>
          <p:nvPr/>
        </p:nvSpPr>
        <p:spPr>
          <a:xfrm>
            <a:off x="9875520" y="1737360"/>
            <a:ext cx="365760" cy="365760"/>
          </a:xfrm>
          <a:prstGeom prst="ellipse">
            <a:avLst/>
          </a:prstGeom>
          <a:solidFill>
            <a:schemeClr val="accent4"/>
          </a:solidFill>
          <a:ln w="15875">
            <a:solidFill>
              <a:schemeClr val="accent3"/>
            </a:solidFill>
            <a:prstDash val="solid"/>
          </a:ln>
        </p:spPr>
      </p:sp>
      <p:sp>
        <p:nvSpPr>
          <p:cNvPr id="14" name="ping-201-6"/>
          <p:cNvSpPr/>
          <p:nvPr/>
        </p:nvSpPr>
        <p:spPr>
          <a:xfrm>
            <a:off x="10351008" y="1737360"/>
            <a:ext cx="365760" cy="365760"/>
          </a:xfrm>
          <a:prstGeom prst="ellipse">
            <a:avLst/>
          </a:prstGeom>
          <a:solidFill>
            <a:schemeClr val="accent4"/>
          </a:solidFill>
          <a:ln w="15875">
            <a:solidFill>
              <a:schemeClr val="accent3"/>
            </a:solidFill>
            <a:prstDash val="solid"/>
          </a:ln>
        </p:spPr>
      </p:sp>
      <p:sp>
        <p:nvSpPr>
          <p:cNvPr id="15" name="Text 13"/>
          <p:cNvSpPr txBox="1"/>
          <p:nvPr/>
        </p:nvSpPr>
        <p:spPr>
          <a:xfrm>
            <a:off x="7498080" y="2468880"/>
            <a:ext cx="3931920" cy="320040"/>
          </a:xfrm>
          <a:prstGeom prst="rect">
            <a:avLst/>
          </a:prstGeom>
          <a:noFill/>
          <a:ln/>
        </p:spPr>
        <p:txBody>
          <a:bodyPr wrap="square" lIns="0" tIns="0" rIns="0" bIns="0" rtlCol="0" anchor="t"/>
          <a:lstStyle/>
          <a:p>
            <a:pPr indent="0" marL="0">
              <a:buNone/>
            </a:pPr>
            <a:r>
              <a:rPr lang="en-US" sz="1400" b="1" dirty="0">
                <a:solidFill>
                  <a:schemeClr val="tx2"/>
                </a:solidFill>
              </a:rPr>
              <a:t>Plaza 202  ·  3 pings</a:t>
            </a:r>
            <a:endParaRPr lang="en-US" sz="1400" dirty="0"/>
          </a:p>
        </p:txBody>
      </p:sp>
      <p:sp>
        <p:nvSpPr>
          <p:cNvPr id="16" name="ping-202-0"/>
          <p:cNvSpPr/>
          <p:nvPr/>
        </p:nvSpPr>
        <p:spPr>
          <a:xfrm>
            <a:off x="7498080" y="2926080"/>
            <a:ext cx="365760" cy="365760"/>
          </a:xfrm>
          <a:prstGeom prst="ellipse">
            <a:avLst/>
          </a:prstGeom>
          <a:solidFill>
            <a:schemeClr val="accent4"/>
          </a:solidFill>
          <a:ln w="15875">
            <a:solidFill>
              <a:schemeClr val="accent3"/>
            </a:solidFill>
            <a:prstDash val="solid"/>
          </a:ln>
        </p:spPr>
      </p:sp>
      <p:sp>
        <p:nvSpPr>
          <p:cNvPr id="17" name="ping-202-1"/>
          <p:cNvSpPr/>
          <p:nvPr/>
        </p:nvSpPr>
        <p:spPr>
          <a:xfrm>
            <a:off x="7973568" y="2926080"/>
            <a:ext cx="365760" cy="365760"/>
          </a:xfrm>
          <a:prstGeom prst="ellipse">
            <a:avLst/>
          </a:prstGeom>
          <a:solidFill>
            <a:schemeClr val="accent2"/>
          </a:solidFill>
          <a:ln w="15875">
            <a:solidFill>
              <a:schemeClr val="accent2"/>
            </a:solidFill>
            <a:prstDash val="solid"/>
          </a:ln>
        </p:spPr>
      </p:sp>
      <p:sp>
        <p:nvSpPr>
          <p:cNvPr id="18" name="ping-202-2"/>
          <p:cNvSpPr/>
          <p:nvPr/>
        </p:nvSpPr>
        <p:spPr>
          <a:xfrm>
            <a:off x="8449056" y="2926080"/>
            <a:ext cx="365760" cy="365760"/>
          </a:xfrm>
          <a:prstGeom prst="ellipse">
            <a:avLst/>
          </a:prstGeom>
          <a:solidFill>
            <a:schemeClr val="accent4"/>
          </a:solidFill>
          <a:ln w="15875">
            <a:solidFill>
              <a:schemeClr val="accent3"/>
            </a:solidFill>
            <a:prstDash val="solid"/>
          </a:ln>
        </p:spPr>
      </p:sp>
      <p:sp>
        <p:nvSpPr>
          <p:cNvPr id="19" name="Text 17"/>
          <p:cNvSpPr txBox="1"/>
          <p:nvPr/>
        </p:nvSpPr>
        <p:spPr>
          <a:xfrm>
            <a:off x="7498080" y="3657600"/>
            <a:ext cx="3931920" cy="320040"/>
          </a:xfrm>
          <a:prstGeom prst="rect">
            <a:avLst/>
          </a:prstGeom>
          <a:noFill/>
          <a:ln/>
        </p:spPr>
        <p:txBody>
          <a:bodyPr wrap="square" lIns="0" tIns="0" rIns="0" bIns="0" rtlCol="0" anchor="t"/>
          <a:lstStyle/>
          <a:p>
            <a:pPr indent="0" marL="0">
              <a:buNone/>
            </a:pPr>
            <a:r>
              <a:rPr lang="en-US" sz="1400" b="1" dirty="0">
                <a:solidFill>
                  <a:schemeClr val="tx2"/>
                </a:solidFill>
              </a:rPr>
              <a:t>Plaza 203  ·  2 pings</a:t>
            </a:r>
            <a:endParaRPr lang="en-US" sz="1400" dirty="0"/>
          </a:p>
        </p:txBody>
      </p:sp>
      <p:sp>
        <p:nvSpPr>
          <p:cNvPr id="20" name="ping-203-0"/>
          <p:cNvSpPr/>
          <p:nvPr/>
        </p:nvSpPr>
        <p:spPr>
          <a:xfrm>
            <a:off x="7498080" y="4114800"/>
            <a:ext cx="365760" cy="365760"/>
          </a:xfrm>
          <a:prstGeom prst="ellipse">
            <a:avLst/>
          </a:prstGeom>
          <a:solidFill>
            <a:schemeClr val="accent4"/>
          </a:solidFill>
          <a:ln w="15875">
            <a:solidFill>
              <a:schemeClr val="accent3"/>
            </a:solidFill>
            <a:prstDash val="solid"/>
          </a:ln>
        </p:spPr>
      </p:sp>
      <p:sp>
        <p:nvSpPr>
          <p:cNvPr id="21" name="ping-203-1"/>
          <p:cNvSpPr/>
          <p:nvPr/>
        </p:nvSpPr>
        <p:spPr>
          <a:xfrm>
            <a:off x="7973568" y="4114800"/>
            <a:ext cx="365760" cy="365760"/>
          </a:xfrm>
          <a:prstGeom prst="ellipse">
            <a:avLst/>
          </a:prstGeom>
          <a:solidFill>
            <a:schemeClr val="accent2"/>
          </a:solidFill>
          <a:ln w="15875">
            <a:solidFill>
              <a:schemeClr val="accent2"/>
            </a:solidFill>
            <a:prstDash val="solid"/>
          </a:ln>
        </p:spPr>
      </p:sp>
      <p:sp>
        <p:nvSpPr>
          <p:cNvPr id="22" name="Text 20"/>
          <p:cNvSpPr txBox="1"/>
          <p:nvPr/>
        </p:nvSpPr>
        <p:spPr>
          <a:xfrm>
            <a:off x="7498080" y="4892040"/>
            <a:ext cx="3931920" cy="411480"/>
          </a:xfrm>
          <a:prstGeom prst="rect">
            <a:avLst/>
          </a:prstGeom>
          <a:noFill/>
          <a:ln/>
        </p:spPr>
        <p:txBody>
          <a:bodyPr wrap="square" lIns="0" tIns="0" rIns="0" bIns="0" rtlCol="0" anchor="t"/>
          <a:lstStyle/>
          <a:p>
            <a:pPr indent="0" marL="0">
              <a:buNone/>
            </a:pPr>
            <a:r>
              <a:rPr lang="en-US" sz="2000" b="1" dirty="0">
                <a:solidFill>
                  <a:schemeClr val="tx1"/>
                </a:solidFill>
              </a:rPr>
              <a:t>12 pings in. 3 events out.</a:t>
            </a:r>
            <a:endParaRPr lang="en-US" sz="2000" dirty="0"/>
          </a:p>
        </p:txBody>
      </p:sp>
      <p:sp>
        <p:nvSpPr>
          <p:cNvPr id="23" name="Text 21"/>
          <p:cNvSpPr txBox="1"/>
          <p:nvPr/>
        </p:nvSpPr>
        <p:spPr>
          <a:xfrm>
            <a:off x="7498080" y="5349240"/>
            <a:ext cx="3931920" cy="274320"/>
          </a:xfrm>
          <a:prstGeom prst="rect">
            <a:avLst/>
          </a:prstGeom>
          <a:noFill/>
          <a:ln/>
        </p:spPr>
        <p:txBody>
          <a:bodyPr wrap="square" lIns="0" tIns="0" rIns="0" bIns="0" rtlCol="0" anchor="t"/>
          <a:lstStyle/>
          <a:p>
            <a:pPr indent="0" marL="0">
              <a:buNone/>
            </a:pPr>
            <a:r>
              <a:rPr lang="en-US" sz="1200" dirty="0">
                <a:solidFill>
                  <a:schemeClr val="tx2"/>
                </a:solidFill>
              </a:rPr>
              <a:t>Amber is the one we keep.</a:t>
            </a:r>
            <a:endParaRPr lang="en-US" sz="1200" dirty="0"/>
          </a:p>
        </p:txBody>
      </p:sp>
      <p:sp>
        <p:nvSpPr>
          <p:cNvPr id="24" name="Text 22"/>
          <p:cNvSpPr txBox="1"/>
          <p:nvPr/>
        </p:nvSpPr>
        <p:spPr>
          <a:xfrm>
            <a:off x="731520" y="6263640"/>
            <a:ext cx="5486400" cy="274320"/>
          </a:xfrm>
          <a:prstGeom prst="rect">
            <a:avLst/>
          </a:prstGeom>
          <a:noFill/>
          <a:ln/>
        </p:spPr>
        <p:txBody>
          <a:bodyPr wrap="square" lIns="0" tIns="0" rIns="0" bIns="0" rtlCol="0" anchor="t"/>
          <a:lstStyle/>
          <a:p>
            <a:pPr indent="0" marL="0">
              <a:buNone/>
            </a:pPr>
            <a:r>
              <a:rPr lang="en-US" sz="1200" dirty="0">
                <a:solidFill>
                  <a:schemeClr val="tx2"/>
                </a:solidFill>
              </a:rPr>
              <a:t>Vellore Institute of Technology, Chennai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Where DA-2 fits</a:t>
            </a:r>
            <a:endParaRPr lang="en-US" sz="3400" dirty="0"/>
          </a:p>
        </p:txBody>
      </p:sp>
      <p:sp>
        <p:nvSpPr>
          <p:cNvPr id="3" name="Text 1"/>
          <p:cNvSpPr txBox="1"/>
          <p:nvPr/>
        </p:nvSpPr>
        <p:spPr>
          <a:xfrm>
            <a:off x="548640" y="1280160"/>
            <a:ext cx="10515600" cy="640080"/>
          </a:xfrm>
          <a:prstGeom prst="rect">
            <a:avLst/>
          </a:prstGeom>
          <a:noFill/>
          <a:ln/>
        </p:spPr>
        <p:txBody>
          <a:bodyPr wrap="square" lIns="0" tIns="0" rIns="0" bIns="0" rtlCol="0" anchor="t"/>
          <a:lstStyle/>
          <a:p>
            <a:pPr indent="0" marL="0">
              <a:buNone/>
            </a:pPr>
            <a:r>
              <a:rPr lang="en-US" sz="1800" dirty="0">
                <a:solidFill>
                  <a:schemeClr val="tx2"/>
                </a:solidFill>
              </a:rPr>
              <a:t>DA-1 was the design on paper. This time we built the first two layers, plus a website to watch them.</a:t>
            </a:r>
            <a:endParaRPr lang="en-US" sz="1800" dirty="0"/>
          </a:p>
        </p:txBody>
      </p:sp>
      <p:sp>
        <p:nvSpPr>
          <p:cNvPr id="4" name="stage-1"/>
          <p:cNvSpPr/>
          <p:nvPr/>
        </p:nvSpPr>
        <p:spPr>
          <a:xfrm>
            <a:off x="548640" y="2240280"/>
            <a:ext cx="2423160" cy="1920240"/>
          </a:xfrm>
          <a:prstGeom prst="roundRect">
            <a:avLst>
              <a:gd name="adj" fmla="val 5714"/>
            </a:avLst>
          </a:prstGeom>
          <a:solidFill>
            <a:schemeClr val="bg2"/>
          </a:solidFill>
          <a:ln/>
          <a:effectLst>
            <a:outerShdw sx="100000" sy="100000" kx="0" ky="0" algn="bl" rotWithShape="0" blurRad="101600" dist="25400" dir="5400000">
              <a:srgbClr val="1F3A2B">
                <a:alpha val="12000"/>
              </a:srgbClr>
            </a:outerShdw>
          </a:effectLst>
        </p:spPr>
      </p:sp>
      <p:sp>
        <p:nvSpPr>
          <p:cNvPr id="5" name="Text 3"/>
          <p:cNvSpPr txBox="1"/>
          <p:nvPr/>
        </p:nvSpPr>
        <p:spPr>
          <a:xfrm>
            <a:off x="731520" y="2423160"/>
            <a:ext cx="20574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TEST INPUT</a:t>
            </a:r>
            <a:endParaRPr lang="en-US" sz="1100" dirty="0"/>
          </a:p>
        </p:txBody>
      </p:sp>
      <p:sp>
        <p:nvSpPr>
          <p:cNvPr id="6" name="Text 4"/>
          <p:cNvSpPr txBox="1"/>
          <p:nvPr/>
        </p:nvSpPr>
        <p:spPr>
          <a:xfrm>
            <a:off x="731520" y="2743200"/>
            <a:ext cx="2057400" cy="365760"/>
          </a:xfrm>
          <a:prstGeom prst="rect">
            <a:avLst/>
          </a:prstGeom>
          <a:noFill/>
          <a:ln/>
        </p:spPr>
        <p:txBody>
          <a:bodyPr wrap="square" lIns="0" tIns="0" rIns="0" bIns="0" rtlCol="0" anchor="t"/>
          <a:lstStyle/>
          <a:p>
            <a:pPr indent="0" marL="0">
              <a:buNone/>
            </a:pPr>
            <a:r>
              <a:rPr lang="en-US" sz="2000" b="1" dirty="0">
                <a:solidFill>
                  <a:schemeClr val="tx1"/>
                </a:solidFill>
              </a:rPr>
              <a:t>Simulated pings</a:t>
            </a:r>
            <a:endParaRPr lang="en-US" sz="2000" dirty="0"/>
          </a:p>
        </p:txBody>
      </p:sp>
      <p:sp>
        <p:nvSpPr>
          <p:cNvPr id="7" name="Text 5"/>
          <p:cNvSpPr txBox="1"/>
          <p:nvPr/>
        </p:nvSpPr>
        <p:spPr>
          <a:xfrm>
            <a:off x="731520" y="3200400"/>
            <a:ext cx="2057400" cy="822960"/>
          </a:xfrm>
          <a:prstGeom prst="rect">
            <a:avLst/>
          </a:prstGeom>
          <a:noFill/>
          <a:ln/>
        </p:spPr>
        <p:txBody>
          <a:bodyPr wrap="square" lIns="0" tIns="0" rIns="0" bIns="0" rtlCol="0" anchor="t"/>
          <a:lstStyle/>
          <a:p>
            <a:pPr indent="0" marL="0">
              <a:buNone/>
            </a:pPr>
            <a:r>
              <a:rPr lang="en-US" sz="1400" dirty="0">
                <a:solidFill>
                  <a:schemeClr val="tx1"/>
                </a:solidFill>
              </a:rPr>
              <a:t>Fake RFID reads that behave like plaza antennas.</a:t>
            </a:r>
            <a:endParaRPr lang="en-US" sz="1400" dirty="0"/>
          </a:p>
        </p:txBody>
      </p:sp>
      <p:sp>
        <p:nvSpPr>
          <p:cNvPr id="8" name="arrow-1"/>
          <p:cNvSpPr/>
          <p:nvPr/>
        </p:nvSpPr>
        <p:spPr>
          <a:xfrm>
            <a:off x="3063240" y="3063240"/>
            <a:ext cx="274320" cy="274320"/>
          </a:xfrm>
          <a:prstGeom prst="rightArrow">
            <a:avLst/>
          </a:prstGeom>
          <a:solidFill>
            <a:schemeClr val="accent1"/>
          </a:solidFill>
          <a:ln/>
        </p:spPr>
      </p:sp>
      <p:sp>
        <p:nvSpPr>
          <p:cNvPr id="9" name="stage-2"/>
          <p:cNvSpPr/>
          <p:nvPr/>
        </p:nvSpPr>
        <p:spPr>
          <a:xfrm>
            <a:off x="3429000" y="2240280"/>
            <a:ext cx="2423160" cy="1920240"/>
          </a:xfrm>
          <a:prstGeom prst="roundRect">
            <a:avLst>
              <a:gd name="adj" fmla="val 5714"/>
            </a:avLst>
          </a:prstGeom>
          <a:solidFill>
            <a:schemeClr val="bg2"/>
          </a:solidFill>
          <a:ln/>
          <a:effectLst>
            <a:outerShdw sx="100000" sy="100000" kx="0" ky="0" algn="bl" rotWithShape="0" blurRad="101600" dist="25400" dir="5400000">
              <a:srgbClr val="1F3A2B">
                <a:alpha val="12000"/>
              </a:srgbClr>
            </a:outerShdw>
          </a:effectLst>
        </p:spPr>
      </p:sp>
      <p:sp>
        <p:nvSpPr>
          <p:cNvPr id="10" name="Text 8"/>
          <p:cNvSpPr txBox="1"/>
          <p:nvPr/>
        </p:nvSpPr>
        <p:spPr>
          <a:xfrm>
            <a:off x="3611880" y="2423160"/>
            <a:ext cx="20574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BUILT IN DA-2</a:t>
            </a:r>
            <a:endParaRPr lang="en-US" sz="1100" dirty="0"/>
          </a:p>
        </p:txBody>
      </p:sp>
      <p:sp>
        <p:nvSpPr>
          <p:cNvPr id="11" name="Text 9"/>
          <p:cNvSpPr txBox="1"/>
          <p:nvPr/>
        </p:nvSpPr>
        <p:spPr>
          <a:xfrm>
            <a:off x="3611880" y="2743200"/>
            <a:ext cx="2057400" cy="365760"/>
          </a:xfrm>
          <a:prstGeom prst="rect">
            <a:avLst/>
          </a:prstGeom>
          <a:noFill/>
          <a:ln/>
        </p:spPr>
        <p:txBody>
          <a:bodyPr wrap="square" lIns="0" tIns="0" rIns="0" bIns="0" rtlCol="0" anchor="t"/>
          <a:lstStyle/>
          <a:p>
            <a:pPr indent="0" marL="0">
              <a:buNone/>
            </a:pPr>
            <a:r>
              <a:rPr lang="en-US" sz="2000" b="1" dirty="0">
                <a:solidFill>
                  <a:schemeClr val="tx1"/>
                </a:solidFill>
              </a:rPr>
              <a:t>NoSQL layer</a:t>
            </a:r>
            <a:endParaRPr lang="en-US" sz="2000" dirty="0"/>
          </a:p>
        </p:txBody>
      </p:sp>
      <p:sp>
        <p:nvSpPr>
          <p:cNvPr id="12" name="Text 10"/>
          <p:cNvSpPr txBox="1"/>
          <p:nvPr/>
        </p:nvSpPr>
        <p:spPr>
          <a:xfrm>
            <a:off x="3611880" y="3200400"/>
            <a:ext cx="2057400" cy="822960"/>
          </a:xfrm>
          <a:prstGeom prst="rect">
            <a:avLst/>
          </a:prstGeom>
          <a:noFill/>
          <a:ln/>
        </p:spPr>
        <p:txBody>
          <a:bodyPr wrap="square" lIns="0" tIns="0" rIns="0" bIns="0" rtlCol="0" anchor="t"/>
          <a:lstStyle/>
          <a:p>
            <a:pPr indent="0" marL="0">
              <a:buNone/>
            </a:pPr>
            <a:r>
              <a:rPr lang="en-US" sz="1400" dirty="0">
                <a:solidFill>
                  <a:schemeClr val="tx1"/>
                </a:solidFill>
              </a:rPr>
              <a:t>Stores every raw ping as it arrives. No checks, no deleting.</a:t>
            </a:r>
            <a:endParaRPr lang="en-US" sz="1400" dirty="0"/>
          </a:p>
        </p:txBody>
      </p:sp>
      <p:sp>
        <p:nvSpPr>
          <p:cNvPr id="13" name="arrow-2"/>
          <p:cNvSpPr/>
          <p:nvPr/>
        </p:nvSpPr>
        <p:spPr>
          <a:xfrm>
            <a:off x="5943600" y="3063240"/>
            <a:ext cx="274320" cy="274320"/>
          </a:xfrm>
          <a:prstGeom prst="rightArrow">
            <a:avLst/>
          </a:prstGeom>
          <a:solidFill>
            <a:schemeClr val="accent1"/>
          </a:solidFill>
          <a:ln/>
        </p:spPr>
      </p:sp>
      <p:sp>
        <p:nvSpPr>
          <p:cNvPr id="14" name="stage-3"/>
          <p:cNvSpPr/>
          <p:nvPr/>
        </p:nvSpPr>
        <p:spPr>
          <a:xfrm>
            <a:off x="6309360" y="2240280"/>
            <a:ext cx="2423160" cy="1920240"/>
          </a:xfrm>
          <a:prstGeom prst="roundRect">
            <a:avLst>
              <a:gd name="adj" fmla="val 5714"/>
            </a:avLst>
          </a:prstGeom>
          <a:solidFill>
            <a:schemeClr val="bg2"/>
          </a:solidFill>
          <a:ln/>
          <a:effectLst>
            <a:outerShdw sx="100000" sy="100000" kx="0" ky="0" algn="bl" rotWithShape="0" blurRad="101600" dist="25400" dir="5400000">
              <a:srgbClr val="1F3A2B">
                <a:alpha val="12000"/>
              </a:srgbClr>
            </a:outerShdw>
          </a:effectLst>
        </p:spPr>
      </p:sp>
      <p:sp>
        <p:nvSpPr>
          <p:cNvPr id="15" name="Text 13"/>
          <p:cNvSpPr txBox="1"/>
          <p:nvPr/>
        </p:nvSpPr>
        <p:spPr>
          <a:xfrm>
            <a:off x="6492240" y="2423160"/>
            <a:ext cx="20574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BUILT IN DA-2</a:t>
            </a:r>
            <a:endParaRPr lang="en-US" sz="1100" dirty="0"/>
          </a:p>
        </p:txBody>
      </p:sp>
      <p:sp>
        <p:nvSpPr>
          <p:cNvPr id="16" name="Text 14"/>
          <p:cNvSpPr txBox="1"/>
          <p:nvPr/>
        </p:nvSpPr>
        <p:spPr>
          <a:xfrm>
            <a:off x="6492240" y="2743200"/>
            <a:ext cx="2057400" cy="365760"/>
          </a:xfrm>
          <a:prstGeom prst="rect">
            <a:avLst/>
          </a:prstGeom>
          <a:noFill/>
          <a:ln/>
        </p:spPr>
        <p:txBody>
          <a:bodyPr wrap="square" lIns="0" tIns="0" rIns="0" bIns="0" rtlCol="0" anchor="t"/>
          <a:lstStyle/>
          <a:p>
            <a:pPr indent="0" marL="0">
              <a:buNone/>
            </a:pPr>
            <a:r>
              <a:rPr lang="en-US" sz="2000" b="1" dirty="0">
                <a:solidFill>
                  <a:schemeClr val="tx1"/>
                </a:solidFill>
              </a:rPr>
              <a:t>Batch processor</a:t>
            </a:r>
            <a:endParaRPr lang="en-US" sz="2000" dirty="0"/>
          </a:p>
        </p:txBody>
      </p:sp>
      <p:sp>
        <p:nvSpPr>
          <p:cNvPr id="17" name="Text 15"/>
          <p:cNvSpPr txBox="1"/>
          <p:nvPr/>
        </p:nvSpPr>
        <p:spPr>
          <a:xfrm>
            <a:off x="6492240" y="3200400"/>
            <a:ext cx="2057400" cy="822960"/>
          </a:xfrm>
          <a:prstGeom prst="rect">
            <a:avLst/>
          </a:prstGeom>
          <a:noFill/>
          <a:ln/>
        </p:spPr>
        <p:txBody>
          <a:bodyPr wrap="square" lIns="0" tIns="0" rIns="0" bIns="0" rtlCol="0" anchor="t"/>
          <a:lstStyle/>
          <a:p>
            <a:pPr indent="0" marL="0">
              <a:buNone/>
            </a:pPr>
            <a:r>
              <a:rPr lang="en-US" sz="1400" dirty="0">
                <a:solidFill>
                  <a:schemeClr val="tx1"/>
                </a:solidFill>
              </a:rPr>
              <a:t>Reads a 60 second window and keeps one ping per car per plaza.</a:t>
            </a:r>
            <a:endParaRPr lang="en-US" sz="1400" dirty="0"/>
          </a:p>
        </p:txBody>
      </p:sp>
      <p:sp>
        <p:nvSpPr>
          <p:cNvPr id="18" name="arrow-3"/>
          <p:cNvSpPr/>
          <p:nvPr/>
        </p:nvSpPr>
        <p:spPr>
          <a:xfrm>
            <a:off x="8823960" y="3063240"/>
            <a:ext cx="274320" cy="274320"/>
          </a:xfrm>
          <a:prstGeom prst="rightArrow">
            <a:avLst/>
          </a:prstGeom>
          <a:solidFill>
            <a:schemeClr val="accent1"/>
          </a:solidFill>
          <a:ln/>
        </p:spPr>
      </p:sp>
      <p:sp>
        <p:nvSpPr>
          <p:cNvPr id="19" name="stage-4"/>
          <p:cNvSpPr/>
          <p:nvPr/>
        </p:nvSpPr>
        <p:spPr>
          <a:xfrm>
            <a:off x="9189720" y="2240280"/>
            <a:ext cx="2423160" cy="1920240"/>
          </a:xfrm>
          <a:prstGeom prst="roundRect">
            <a:avLst>
              <a:gd name="adj" fmla="val 5714"/>
            </a:avLst>
          </a:prstGeom>
          <a:solidFill>
            <a:schemeClr val="bg1"/>
          </a:solidFill>
          <a:ln w="19050">
            <a:solidFill>
              <a:schemeClr val="accent6"/>
            </a:solidFill>
            <a:prstDash val="dash"/>
          </a:ln>
        </p:spPr>
      </p:sp>
      <p:sp>
        <p:nvSpPr>
          <p:cNvPr id="20" name="Text 18"/>
          <p:cNvSpPr txBox="1"/>
          <p:nvPr/>
        </p:nvSpPr>
        <p:spPr>
          <a:xfrm>
            <a:off x="9372600" y="2423160"/>
            <a:ext cx="2057400" cy="228600"/>
          </a:xfrm>
          <a:prstGeom prst="rect">
            <a:avLst/>
          </a:prstGeom>
          <a:noFill/>
          <a:ln/>
        </p:spPr>
        <p:txBody>
          <a:bodyPr wrap="square" lIns="0" tIns="0" rIns="0" bIns="0" rtlCol="0" anchor="t"/>
          <a:lstStyle/>
          <a:p>
            <a:pPr indent="0" marL="0">
              <a:buNone/>
            </a:pPr>
            <a:r>
              <a:rPr lang="en-US" sz="1100" b="1" spc="100" kern="0" dirty="0">
                <a:solidFill>
                  <a:schemeClr val="accent6"/>
                </a:solidFill>
              </a:rPr>
              <a:t>NEXT, DA-3</a:t>
            </a:r>
            <a:endParaRPr lang="en-US" sz="1100" dirty="0"/>
          </a:p>
        </p:txBody>
      </p:sp>
      <p:sp>
        <p:nvSpPr>
          <p:cNvPr id="21" name="Text 19"/>
          <p:cNvSpPr txBox="1"/>
          <p:nvPr/>
        </p:nvSpPr>
        <p:spPr>
          <a:xfrm>
            <a:off x="9372600" y="2743200"/>
            <a:ext cx="2057400" cy="365760"/>
          </a:xfrm>
          <a:prstGeom prst="rect">
            <a:avLst/>
          </a:prstGeom>
          <a:noFill/>
          <a:ln/>
        </p:spPr>
        <p:txBody>
          <a:bodyPr wrap="square" lIns="0" tIns="0" rIns="0" bIns="0" rtlCol="0" anchor="t"/>
          <a:lstStyle/>
          <a:p>
            <a:pPr indent="0" marL="0">
              <a:buNone/>
            </a:pPr>
            <a:r>
              <a:rPr lang="en-US" sz="2000" b="1" dirty="0">
                <a:solidFill>
                  <a:schemeClr val="tx1"/>
                </a:solidFill>
              </a:rPr>
              <a:t>SQL ledger</a:t>
            </a:r>
            <a:endParaRPr lang="en-US" sz="2000" dirty="0"/>
          </a:p>
        </p:txBody>
      </p:sp>
      <p:sp>
        <p:nvSpPr>
          <p:cNvPr id="22" name="Text 20"/>
          <p:cNvSpPr txBox="1"/>
          <p:nvPr/>
        </p:nvSpPr>
        <p:spPr>
          <a:xfrm>
            <a:off x="9372600" y="3200400"/>
            <a:ext cx="2057400" cy="822960"/>
          </a:xfrm>
          <a:prstGeom prst="rect">
            <a:avLst/>
          </a:prstGeom>
          <a:noFill/>
          <a:ln/>
        </p:spPr>
        <p:txBody>
          <a:bodyPr wrap="square" lIns="0" tIns="0" rIns="0" bIns="0" rtlCol="0" anchor="t"/>
          <a:lstStyle/>
          <a:p>
            <a:pPr indent="0" marL="0">
              <a:buNone/>
            </a:pPr>
            <a:r>
              <a:rPr lang="en-US" sz="1400" dirty="0">
                <a:solidFill>
                  <a:schemeClr val="accent6"/>
                </a:solidFill>
              </a:rPr>
              <a:t>Takes the cleaned events and moves the money. Not connected yet.</a:t>
            </a:r>
            <a:endParaRPr lang="en-US" sz="1400" dirty="0"/>
          </a:p>
        </p:txBody>
      </p:sp>
      <p:sp>
        <p:nvSpPr>
          <p:cNvPr id="23" name="reads-0"/>
          <p:cNvSpPr/>
          <p:nvPr/>
        </p:nvSpPr>
        <p:spPr>
          <a:xfrm>
            <a:off x="4640580" y="4160520"/>
            <a:ext cx="0" cy="548640"/>
          </a:xfrm>
          <a:prstGeom prst="line">
            <a:avLst/>
          </a:prstGeom>
          <a:noFill/>
          <a:ln w="19050">
            <a:solidFill>
              <a:schemeClr val="accent1"/>
            </a:solidFill>
            <a:prstDash val="solid"/>
          </a:ln>
        </p:spPr>
      </p:sp>
      <p:sp>
        <p:nvSpPr>
          <p:cNvPr id="24" name="reads-1"/>
          <p:cNvSpPr/>
          <p:nvPr/>
        </p:nvSpPr>
        <p:spPr>
          <a:xfrm>
            <a:off x="7520940" y="4160520"/>
            <a:ext cx="0" cy="548640"/>
          </a:xfrm>
          <a:prstGeom prst="line">
            <a:avLst/>
          </a:prstGeom>
          <a:noFill/>
          <a:ln w="19050">
            <a:solidFill>
              <a:schemeClr val="accent1"/>
            </a:solidFill>
            <a:prstDash val="solid"/>
          </a:ln>
        </p:spPr>
      </p:sp>
      <p:sp>
        <p:nvSpPr>
          <p:cNvPr id="25" name="dashboard-card"/>
          <p:cNvSpPr/>
          <p:nvPr/>
        </p:nvSpPr>
        <p:spPr>
          <a:xfrm>
            <a:off x="3429000" y="4709160"/>
            <a:ext cx="5303520" cy="1371600"/>
          </a:xfrm>
          <a:prstGeom prst="roundRect">
            <a:avLst>
              <a:gd name="adj" fmla="val 8000"/>
            </a:avLst>
          </a:prstGeom>
          <a:solidFill>
            <a:schemeClr val="bg2"/>
          </a:solidFill>
          <a:ln/>
          <a:effectLst>
            <a:outerShdw sx="100000" sy="100000" kx="0" ky="0" algn="bl" rotWithShape="0" blurRad="101600" dist="25400" dir="5400000">
              <a:srgbClr val="1F3A2B">
                <a:alpha val="12000"/>
              </a:srgbClr>
            </a:outerShdw>
          </a:effectLst>
        </p:spPr>
      </p:sp>
      <p:sp>
        <p:nvSpPr>
          <p:cNvPr id="26" name="Text 24"/>
          <p:cNvSpPr txBox="1"/>
          <p:nvPr/>
        </p:nvSpPr>
        <p:spPr>
          <a:xfrm>
            <a:off x="3703320" y="4892040"/>
            <a:ext cx="4572000" cy="365760"/>
          </a:xfrm>
          <a:prstGeom prst="rect">
            <a:avLst/>
          </a:prstGeom>
          <a:noFill/>
          <a:ln/>
        </p:spPr>
        <p:txBody>
          <a:bodyPr wrap="square" lIns="0" tIns="0" rIns="0" bIns="0" rtlCol="0" anchor="t"/>
          <a:lstStyle/>
          <a:p>
            <a:pPr indent="0" marL="0">
              <a:buNone/>
            </a:pPr>
            <a:r>
              <a:rPr lang="en-US" sz="2000" b="1" dirty="0">
                <a:solidFill>
                  <a:schemeClr val="tx1"/>
                </a:solidFill>
              </a:rPr>
              <a:t>Local dashboard</a:t>
            </a:r>
            <a:endParaRPr lang="en-US" sz="2000" dirty="0"/>
          </a:p>
        </p:txBody>
      </p:sp>
      <p:sp>
        <p:nvSpPr>
          <p:cNvPr id="27" name="Text 25"/>
          <p:cNvSpPr txBox="1"/>
          <p:nvPr/>
        </p:nvSpPr>
        <p:spPr>
          <a:xfrm>
            <a:off x="3703320" y="5321808"/>
            <a:ext cx="4754880" cy="685800"/>
          </a:xfrm>
          <a:prstGeom prst="rect">
            <a:avLst/>
          </a:prstGeom>
          <a:noFill/>
          <a:ln/>
        </p:spPr>
        <p:txBody>
          <a:bodyPr wrap="square" lIns="0" tIns="0" rIns="0" bIns="0" rtlCol="0" anchor="t"/>
          <a:lstStyle/>
          <a:p>
            <a:pPr indent="0" marL="0">
              <a:buNone/>
            </a:pPr>
            <a:r>
              <a:rPr lang="en-US" sz="1400" dirty="0">
                <a:solidFill>
                  <a:schemeClr val="tx1"/>
                </a:solidFill>
              </a:rPr>
              <a:t>A small website running on localhost. It shows pings received, pings left after deduplication, and the tables from both layers.</a:t>
            </a:r>
            <a:endParaRPr lang="en-US" sz="1400" dirty="0"/>
          </a:p>
        </p:txBody>
      </p:sp>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NoSQL layer: write first, think later</a:t>
            </a:r>
            <a:endParaRPr lang="en-US" sz="3400" dirty="0"/>
          </a:p>
        </p:txBody>
      </p:sp>
      <p:sp>
        <p:nvSpPr>
          <p:cNvPr id="3" name="Text 1"/>
          <p:cNvSpPr txBox="1"/>
          <p:nvPr/>
        </p:nvSpPr>
        <p:spPr>
          <a:xfrm>
            <a:off x="548640" y="1463040"/>
            <a:ext cx="4754880" cy="3474720"/>
          </a:xfrm>
          <a:prstGeom prst="rect">
            <a:avLst/>
          </a:prstGeom>
          <a:noFill/>
          <a:ln/>
        </p:spPr>
        <p:txBody>
          <a:bodyPr wrap="square" lIns="0" tIns="0" rIns="0" bIns="0" rtlCol="0" anchor="t"/>
          <a:lstStyle/>
          <a:p>
            <a:pPr indent="0" marL="0">
              <a:spcAft>
                <a:spcPts val="1400"/>
              </a:spcAft>
              <a:buNone/>
            </a:pPr>
            <a:r>
              <a:rPr lang="en-US" sz="1600" dirty="0">
                <a:solidFill>
                  <a:schemeClr val="tx1"/>
                </a:solidFill>
              </a:rPr>
              <a:t>Every ping becomes one row and that's it. No price lookup, no balance check, nothing that could slow a write down.</a:t>
            </a:r>
            <a:endParaRPr lang="en-US" sz="1600" dirty="0"/>
          </a:p>
          <a:p>
            <a:pPr indent="0" marL="0">
              <a:spcAft>
                <a:spcPts val="1400"/>
              </a:spcAft>
              <a:buNone/>
            </a:pPr>
            <a:r>
              <a:rPr lang="en-US" sz="1600" dirty="0">
                <a:solidFill>
                  <a:schemeClr val="tx1"/>
                </a:solidFill>
              </a:rPr>
              <a:t>Rows are grouped by plaza_id and kept newest first. When the batch job asks for the last 60 seconds of plaza 201, it reads from the top and stops.</a:t>
            </a:r>
            <a:endParaRPr lang="en-US" sz="1600" dirty="0"/>
          </a:p>
          <a:p>
            <a:pPr indent="0" marL="0">
              <a:buNone/>
            </a:pPr>
            <a:r>
              <a:rPr lang="en-US" sz="1600" dirty="0">
                <a:solidFill>
                  <a:schemeClr val="tx1"/>
                </a:solidFill>
              </a:rPr>
              <a:t>We never delete from this table. If a batch run goes wrong, the raw pings are still there and we just run it again.</a:t>
            </a:r>
            <a:endParaRPr lang="en-US" sz="1600" dirty="0"/>
          </a:p>
        </p:txBody>
      </p:sp>
      <p:sp>
        <p:nvSpPr>
          <p:cNvPr id="4" name="key-card"/>
          <p:cNvSpPr/>
          <p:nvPr/>
        </p:nvSpPr>
        <p:spPr>
          <a:xfrm>
            <a:off x="548640" y="4983480"/>
            <a:ext cx="4754880" cy="1097280"/>
          </a:xfrm>
          <a:prstGeom prst="roundRect">
            <a:avLst>
              <a:gd name="adj" fmla="val 10000"/>
            </a:avLst>
          </a:prstGeom>
          <a:solidFill>
            <a:schemeClr val="accent4"/>
          </a:solidFill>
          <a:ln/>
        </p:spPr>
      </p:sp>
      <p:sp>
        <p:nvSpPr>
          <p:cNvPr id="5" name="Text 3"/>
          <p:cNvSpPr txBox="1"/>
          <p:nvPr/>
        </p:nvSpPr>
        <p:spPr>
          <a:xfrm>
            <a:off x="777240" y="5120640"/>
            <a:ext cx="2286000" cy="228600"/>
          </a:xfrm>
          <a:prstGeom prst="rect">
            <a:avLst/>
          </a:prstGeom>
          <a:noFill/>
          <a:ln/>
        </p:spPr>
        <p:txBody>
          <a:bodyPr wrap="square" lIns="0" tIns="0" rIns="0" bIns="0" rtlCol="0" anchor="t"/>
          <a:lstStyle/>
          <a:p>
            <a:pPr indent="0" marL="0">
              <a:buNone/>
            </a:pPr>
            <a:r>
              <a:rPr lang="en-US" sz="1100" b="1" spc="100" kern="0" dirty="0">
                <a:solidFill>
                  <a:schemeClr val="accent1"/>
                </a:solidFill>
              </a:rPr>
              <a:t>PRIMARY KEY</a:t>
            </a:r>
            <a:endParaRPr lang="en-US" sz="1100" dirty="0"/>
          </a:p>
        </p:txBody>
      </p:sp>
      <p:sp>
        <p:nvSpPr>
          <p:cNvPr id="6" name="Text 4"/>
          <p:cNvSpPr txBox="1"/>
          <p:nvPr/>
        </p:nvSpPr>
        <p:spPr>
          <a:xfrm>
            <a:off x="777240" y="5376672"/>
            <a:ext cx="4297680"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((plaza_id),</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ping_timestamp, tag_id)</a:t>
            </a:r>
            <a:endParaRPr lang="en-US" sz="1400" dirty="0"/>
          </a:p>
        </p:txBody>
      </p:sp>
      <p:sp>
        <p:nvSpPr>
          <p:cNvPr id="7" name="raw-table-card"/>
          <p:cNvSpPr/>
          <p:nvPr/>
        </p:nvSpPr>
        <p:spPr>
          <a:xfrm>
            <a:off x="5760720" y="1417320"/>
            <a:ext cx="5879592" cy="4663440"/>
          </a:xfrm>
          <a:prstGeom prst="roundRect">
            <a:avLst>
              <a:gd name="adj" fmla="val 2353"/>
            </a:avLst>
          </a:prstGeom>
          <a:solidFill>
            <a:schemeClr val="bg2"/>
          </a:solidFill>
          <a:ln/>
          <a:effectLst>
            <a:outerShdw sx="100000" sy="100000" kx="0" ky="0" algn="bl" rotWithShape="0" blurRad="101600" dist="25400" dir="5400000">
              <a:srgbClr val="1F3A2B">
                <a:alpha val="12000"/>
              </a:srgbClr>
            </a:outerShdw>
          </a:effectLst>
        </p:spPr>
      </p:sp>
      <p:sp>
        <p:nvSpPr>
          <p:cNvPr id="8" name="Text 6"/>
          <p:cNvSpPr txBox="1"/>
          <p:nvPr/>
        </p:nvSpPr>
        <p:spPr>
          <a:xfrm>
            <a:off x="5989320" y="1600200"/>
            <a:ext cx="5394960" cy="320040"/>
          </a:xfrm>
          <a:prstGeom prst="rect">
            <a:avLst/>
          </a:prstGeom>
          <a:noFill/>
          <a:ln/>
        </p:spPr>
        <p:txBody>
          <a:bodyPr wrap="square" lIns="0" tIns="0" rIns="0" bIns="0" rtlCol="0" anchor="t"/>
          <a:lstStyle/>
          <a:p>
            <a:pPr indent="0" marL="0">
              <a:buNone/>
            </a:pPr>
            <a:r>
              <a:rPr lang="en-US" sz="1400" b="1" dirty="0">
                <a:solidFill>
                  <a:schemeClr val="tx2"/>
                </a:solidFill>
              </a:rPr>
              <a:t>Raw_RFID_Pings   (9 of 12 rows shown)</a:t>
            </a:r>
            <a:endParaRPr lang="en-US" sz="1400" dirty="0"/>
          </a:p>
        </p:txBody>
      </p:sp>
      <p:graphicFrame>
        <p:nvGraphicFramePr>
          <p:cNvPr id="4" name="raw-table"/>
          <p:cNvGraphicFramePr>
            <a:graphicFrameLocks noGrp="1"/>
          </p:cNvGraphicFramePr>
          <p:nvPr>
            <p:extLst>
              <p:ext uri="{D42A27DB-BD31-4B8C-83A1-F6EECF244321}">
                <p14:modId xmlns:p14="http://schemas.microsoft.com/office/powerpoint/2010/main" val="1579011935"/>
              </p:ext>
            </p:extLst>
          </p:nvPr>
        </p:nvGraphicFramePr>
        <p:xfrm>
          <a:off x="5989320" y="2057400"/>
          <a:ext cx="5422392" cy="914400"/>
        </p:xfrm>
        <a:graphic>
          <a:graphicData uri="http://schemas.openxmlformats.org/drawingml/2006/table">
            <a:tbl>
              <a:tblPr/>
              <a:tblGrid>
                <a:gridCol w="914400"/>
                <a:gridCol w="1417320"/>
                <a:gridCol w="1371600"/>
                <a:gridCol w="822960"/>
                <a:gridCol w="896112"/>
              </a:tblGrid>
              <a:tr h="347472">
                <a:tc>
                  <a:txBody>
                    <a:bodyPr/>
                    <a:lstStyle/>
                    <a:p>
                      <a:pPr indent="0" marL="0">
                        <a:buNone/>
                      </a:pPr>
                      <a:r>
                        <a:rPr lang="en-US" sz="1400" b="1" dirty="0">
                          <a:solidFill>
                            <a:schemeClr val="bg2"/>
                          </a:solidFill>
                        </a:rPr>
                        <a:t>plaza_id</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ping_timestamp</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tag_id</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lane_id</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rssi</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r>
              <a:tr h="347472">
                <a:tc>
                  <a:txBody>
                    <a:bodyPr/>
                    <a:lstStyle/>
                    <a:p>
                      <a:pPr algn="l" indent="0" marL="0">
                        <a:buNone/>
                      </a:pPr>
                      <a:r>
                        <a:rPr lang="en-US" sz="1400" dirty="0">
                          <a:solidFill>
                            <a:schemeClr val="tx1"/>
                          </a:solidFill>
                        </a:rPr>
                        <a:t>201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10:42:38</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TAG_883921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-63.8</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10:42:30</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TAG_883921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-55.6</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10:42:24</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TAG_883921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-49.1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10:42:21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TAG_883921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-52.7</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10:42:22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TAG_441029</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-57.3</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10:42:20</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TAG_441029</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-54.9</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10:42:19</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TAG_441029</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-61.2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203</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10:42:45</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TAG_770045</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3</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-51.8</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400" dirty="0">
                          <a:solidFill>
                            <a:schemeClr val="tx1"/>
                          </a:solidFill>
                        </a:rPr>
                        <a:t>203</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10:42:44</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400" dirty="0">
                          <a:solidFill>
                            <a:schemeClr val="tx1"/>
                          </a:solidFill>
                        </a:rPr>
                        <a:t>TAG_770045</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3</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400" dirty="0">
                          <a:solidFill>
                            <a:schemeClr val="tx1"/>
                          </a:solidFill>
                        </a:rPr>
                        <a:t>-60.5</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bl>
          </a:graphicData>
        </a:graphic>
      </p:graphicFrame>
      <p:sp>
        <p:nvSpPr>
          <p:cNvPr id="10" name="Text 7"/>
          <p:cNvSpPr txBox="1"/>
          <p:nvPr/>
        </p:nvSpPr>
        <p:spPr>
          <a:xfrm>
            <a:off x="5989320" y="5669280"/>
            <a:ext cx="5394960" cy="274320"/>
          </a:xfrm>
          <a:prstGeom prst="rect">
            <a:avLst/>
          </a:prstGeom>
          <a:noFill/>
          <a:ln/>
        </p:spPr>
        <p:txBody>
          <a:bodyPr wrap="square" lIns="0" tIns="0" rIns="0" bIns="0" rtlCol="0" anchor="t"/>
          <a:lstStyle/>
          <a:p>
            <a:pPr indent="0" marL="0">
              <a:buNone/>
            </a:pPr>
            <a:r>
              <a:rPr lang="en-US" sz="1200" dirty="0">
                <a:solidFill>
                  <a:schemeClr val="tx2"/>
                </a:solidFill>
              </a:rPr>
              <a:t>Sample rows. Within each plaza the newest ping comes first.</a:t>
            </a:r>
            <a:endParaRPr lang="en-US" sz="1200" dirty="0"/>
          </a:p>
        </p:txBody>
      </p:sp>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Batch processor: 12 pings in, 3 out</a:t>
            </a:r>
            <a:endParaRPr lang="en-US" sz="3400" dirty="0"/>
          </a:p>
        </p:txBody>
      </p:sp>
      <p:sp>
        <p:nvSpPr>
          <p:cNvPr id="3" name="step-dot-1"/>
          <p:cNvSpPr/>
          <p:nvPr/>
        </p:nvSpPr>
        <p:spPr>
          <a:xfrm>
            <a:off x="548640" y="1508760"/>
            <a:ext cx="457200" cy="457200"/>
          </a:xfrm>
          <a:prstGeom prst="ellipse">
            <a:avLst/>
          </a:prstGeom>
          <a:solidFill>
            <a:schemeClr val="accent1"/>
          </a:solidFill>
          <a:ln/>
        </p:spPr>
      </p:sp>
      <p:sp>
        <p:nvSpPr>
          <p:cNvPr id="4" name="Text 2"/>
          <p:cNvSpPr txBox="1"/>
          <p:nvPr/>
        </p:nvSpPr>
        <p:spPr>
          <a:xfrm>
            <a:off x="548640" y="1508760"/>
            <a:ext cx="457200" cy="457200"/>
          </a:xfrm>
          <a:prstGeom prst="rect">
            <a:avLst/>
          </a:prstGeom>
          <a:noFill/>
          <a:ln/>
        </p:spPr>
        <p:txBody>
          <a:bodyPr wrap="square" lIns="0" tIns="0" rIns="0" bIns="0" rtlCol="0" anchor="ctr"/>
          <a:lstStyle/>
          <a:p>
            <a:pPr algn="ctr" indent="0" marL="0">
              <a:buNone/>
            </a:pPr>
            <a:r>
              <a:rPr lang="en-US" sz="1600" b="1" dirty="0">
                <a:solidFill>
                  <a:schemeClr val="bg2"/>
                </a:solidFill>
              </a:rPr>
              <a:t>1</a:t>
            </a:r>
            <a:endParaRPr lang="en-US" sz="1600" dirty="0"/>
          </a:p>
        </p:txBody>
      </p:sp>
      <p:sp>
        <p:nvSpPr>
          <p:cNvPr id="5" name="Text 3"/>
          <p:cNvSpPr txBox="1"/>
          <p:nvPr/>
        </p:nvSpPr>
        <p:spPr>
          <a:xfrm>
            <a:off x="1234440" y="1527048"/>
            <a:ext cx="3931920" cy="914400"/>
          </a:xfrm>
          <a:prstGeom prst="rect">
            <a:avLst/>
          </a:prstGeom>
          <a:noFill/>
          <a:ln/>
        </p:spPr>
        <p:txBody>
          <a:bodyPr wrap="square" lIns="0" tIns="0" rIns="0" bIns="0" rtlCol="0" anchor="t"/>
          <a:lstStyle/>
          <a:p>
            <a:pPr indent="0" marL="0">
              <a:buNone/>
            </a:pPr>
            <a:r>
              <a:rPr lang="en-US" sz="1600" dirty="0">
                <a:solidFill>
                  <a:schemeClr val="tx1"/>
                </a:solidFill>
              </a:rPr>
              <a:t>Read one 60 second window from the NoSQL table.</a:t>
            </a:r>
            <a:endParaRPr lang="en-US" sz="1600" dirty="0"/>
          </a:p>
        </p:txBody>
      </p:sp>
      <p:sp>
        <p:nvSpPr>
          <p:cNvPr id="6" name="step-dot-2"/>
          <p:cNvSpPr/>
          <p:nvPr/>
        </p:nvSpPr>
        <p:spPr>
          <a:xfrm>
            <a:off x="548640" y="2423160"/>
            <a:ext cx="457200" cy="457200"/>
          </a:xfrm>
          <a:prstGeom prst="ellipse">
            <a:avLst/>
          </a:prstGeom>
          <a:solidFill>
            <a:schemeClr val="accent1"/>
          </a:solidFill>
          <a:ln/>
        </p:spPr>
      </p:sp>
      <p:sp>
        <p:nvSpPr>
          <p:cNvPr id="7" name="Text 5"/>
          <p:cNvSpPr txBox="1"/>
          <p:nvPr/>
        </p:nvSpPr>
        <p:spPr>
          <a:xfrm>
            <a:off x="548640" y="2423160"/>
            <a:ext cx="457200" cy="457200"/>
          </a:xfrm>
          <a:prstGeom prst="rect">
            <a:avLst/>
          </a:prstGeom>
          <a:noFill/>
          <a:ln/>
        </p:spPr>
        <p:txBody>
          <a:bodyPr wrap="square" lIns="0" tIns="0" rIns="0" bIns="0" rtlCol="0" anchor="ctr"/>
          <a:lstStyle/>
          <a:p>
            <a:pPr algn="ctr" indent="0" marL="0">
              <a:buNone/>
            </a:pPr>
            <a:r>
              <a:rPr lang="en-US" sz="1600" b="1" dirty="0">
                <a:solidFill>
                  <a:schemeClr val="bg2"/>
                </a:solidFill>
              </a:rPr>
              <a:t>2</a:t>
            </a:r>
            <a:endParaRPr lang="en-US" sz="1600" dirty="0"/>
          </a:p>
        </p:txBody>
      </p:sp>
      <p:sp>
        <p:nvSpPr>
          <p:cNvPr id="8" name="Text 6"/>
          <p:cNvSpPr txBox="1"/>
          <p:nvPr/>
        </p:nvSpPr>
        <p:spPr>
          <a:xfrm>
            <a:off x="1234440" y="2441448"/>
            <a:ext cx="3931920" cy="914400"/>
          </a:xfrm>
          <a:prstGeom prst="rect">
            <a:avLst/>
          </a:prstGeom>
          <a:noFill/>
          <a:ln/>
        </p:spPr>
        <p:txBody>
          <a:bodyPr wrap="square" lIns="0" tIns="0" rIns="0" bIns="0" rtlCol="0" anchor="t"/>
          <a:lstStyle/>
          <a:p>
            <a:pPr indent="0" marL="0">
              <a:buNone/>
            </a:pPr>
            <a:r>
              <a:rPr lang="en-US" sz="1600" dirty="0">
                <a:solidFill>
                  <a:schemeClr val="tx1"/>
                </a:solidFill>
              </a:rPr>
              <a:t>Group the pings by plaza and tag.</a:t>
            </a:r>
            <a:endParaRPr lang="en-US" sz="1600" dirty="0"/>
          </a:p>
        </p:txBody>
      </p:sp>
      <p:sp>
        <p:nvSpPr>
          <p:cNvPr id="9" name="step-dot-3"/>
          <p:cNvSpPr/>
          <p:nvPr/>
        </p:nvSpPr>
        <p:spPr>
          <a:xfrm>
            <a:off x="548640" y="3337560"/>
            <a:ext cx="457200" cy="457200"/>
          </a:xfrm>
          <a:prstGeom prst="ellipse">
            <a:avLst/>
          </a:prstGeom>
          <a:solidFill>
            <a:schemeClr val="accent1"/>
          </a:solidFill>
          <a:ln/>
        </p:spPr>
      </p:sp>
      <p:sp>
        <p:nvSpPr>
          <p:cNvPr id="10" name="Text 8"/>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600" b="1" dirty="0">
                <a:solidFill>
                  <a:schemeClr val="bg2"/>
                </a:solidFill>
              </a:rPr>
              <a:t>3</a:t>
            </a:r>
            <a:endParaRPr lang="en-US" sz="1600" dirty="0"/>
          </a:p>
        </p:txBody>
      </p:sp>
      <p:sp>
        <p:nvSpPr>
          <p:cNvPr id="11" name="Text 9"/>
          <p:cNvSpPr txBox="1"/>
          <p:nvPr/>
        </p:nvSpPr>
        <p:spPr>
          <a:xfrm>
            <a:off x="1234440" y="3355848"/>
            <a:ext cx="3931920" cy="914400"/>
          </a:xfrm>
          <a:prstGeom prst="rect">
            <a:avLst/>
          </a:prstGeom>
          <a:noFill/>
          <a:ln/>
        </p:spPr>
        <p:txBody>
          <a:bodyPr wrap="square" lIns="0" tIns="0" rIns="0" bIns="0" rtlCol="0" anchor="t"/>
          <a:lstStyle/>
          <a:p>
            <a:pPr indent="0" marL="0">
              <a:buNone/>
            </a:pPr>
            <a:r>
              <a:rPr lang="en-US" sz="1600" dirty="0">
                <a:solidFill>
                  <a:schemeClr val="tx1"/>
                </a:solidFill>
              </a:rPr>
              <a:t>In each group, keep the strongest signal. RSSI closest to zero means the car was closest to the antenna.</a:t>
            </a:r>
            <a:endParaRPr lang="en-US" sz="1600" dirty="0"/>
          </a:p>
        </p:txBody>
      </p:sp>
      <p:sp>
        <p:nvSpPr>
          <p:cNvPr id="12" name="step-dot-4"/>
          <p:cNvSpPr/>
          <p:nvPr/>
        </p:nvSpPr>
        <p:spPr>
          <a:xfrm>
            <a:off x="548640" y="4572000"/>
            <a:ext cx="457200" cy="457200"/>
          </a:xfrm>
          <a:prstGeom prst="ellipse">
            <a:avLst/>
          </a:prstGeom>
          <a:solidFill>
            <a:schemeClr val="accent1"/>
          </a:solidFill>
          <a:ln/>
        </p:spPr>
      </p:sp>
      <p:sp>
        <p:nvSpPr>
          <p:cNvPr id="13" name="Text 11"/>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600" b="1" dirty="0">
                <a:solidFill>
                  <a:schemeClr val="bg2"/>
                </a:solidFill>
              </a:rPr>
              <a:t>4</a:t>
            </a:r>
            <a:endParaRPr lang="en-US" sz="1600" dirty="0"/>
          </a:p>
        </p:txBody>
      </p:sp>
      <p:sp>
        <p:nvSpPr>
          <p:cNvPr id="14" name="Text 12"/>
          <p:cNvSpPr txBox="1"/>
          <p:nvPr/>
        </p:nvSpPr>
        <p:spPr>
          <a:xfrm>
            <a:off x="1234440" y="4590288"/>
            <a:ext cx="3931920" cy="914400"/>
          </a:xfrm>
          <a:prstGeom prst="rect">
            <a:avLst/>
          </a:prstGeom>
          <a:noFill/>
          <a:ln/>
        </p:spPr>
        <p:txBody>
          <a:bodyPr wrap="square" lIns="0" tIns="0" rIns="0" bIns="0" rtlCol="0" anchor="t"/>
          <a:lstStyle/>
          <a:p>
            <a:pPr indent="0" marL="0">
              <a:buNone/>
            </a:pPr>
            <a:r>
              <a:rPr lang="en-US" sz="1600" dirty="0">
                <a:solidFill>
                  <a:schemeClr val="tx1"/>
                </a:solidFill>
              </a:rPr>
              <a:t>Write one event per group into the batch table.</a:t>
            </a:r>
            <a:endParaRPr lang="en-US" sz="1600" dirty="0"/>
          </a:p>
        </p:txBody>
      </p:sp>
      <p:sp>
        <p:nvSpPr>
          <p:cNvPr id="15" name="Text 13"/>
          <p:cNvSpPr txBox="1"/>
          <p:nvPr/>
        </p:nvSpPr>
        <p:spPr>
          <a:xfrm>
            <a:off x="5577840" y="1463040"/>
            <a:ext cx="6062472" cy="320040"/>
          </a:xfrm>
          <a:prstGeom prst="rect">
            <a:avLst/>
          </a:prstGeom>
          <a:noFill/>
          <a:ln/>
        </p:spPr>
        <p:txBody>
          <a:bodyPr wrap="square" lIns="0" tIns="0" rIns="0" bIns="0" rtlCol="0" anchor="t"/>
          <a:lstStyle/>
          <a:p>
            <a:pPr indent="0" marL="0">
              <a:buNone/>
            </a:pPr>
            <a:r>
              <a:rPr lang="en-US" sz="1400" b="1" dirty="0">
                <a:solidFill>
                  <a:schemeClr val="tx2"/>
                </a:solidFill>
              </a:rPr>
              <a:t>TAG_883921 at plaza 201, one 60 second window</a:t>
            </a:r>
            <a:endParaRPr lang="en-US" sz="1400" dirty="0"/>
          </a:p>
        </p:txBody>
      </p:sp>
      <p:sp>
        <p:nvSpPr>
          <p:cNvPr id="16" name="chip-0"/>
          <p:cNvSpPr txBox="1"/>
          <p:nvPr/>
        </p:nvSpPr>
        <p:spPr>
          <a:xfrm>
            <a:off x="5577840" y="1874520"/>
            <a:ext cx="731520" cy="914400"/>
          </a:xfrm>
          <a:prstGeom prst="roundRect">
            <a:avLst>
              <a:gd name="adj" fmla="val 12500"/>
            </a:avLst>
          </a:prstGeom>
          <a:solidFill>
            <a:schemeClr val="bg2"/>
          </a:solidFill>
          <a:ln w="12700">
            <a:solidFill>
              <a:schemeClr val="accent3"/>
            </a:solidFill>
          </a:ln>
        </p:spPr>
        <p:txBody>
          <a:bodyPr wrap="square" lIns="0" tIns="0" rIns="0" bIns="0" rtlCol="0" anchor="ctr"/>
          <a:lstStyle/>
          <a:p>
            <a:pPr algn="ctr" indent="0" marL="0">
              <a:buNone/>
            </a:pPr>
            <a:r>
              <a:rPr lang="en-US" sz="1100" dirty="0">
                <a:solidFill>
                  <a:schemeClr val="tx1"/>
                </a:solidFill>
              </a:rPr>
              <a:t>10:42:07</a:t>
            </a:r>
            <a:endParaRPr lang="en-US" sz="1100" dirty="0"/>
          </a:p>
          <a:p>
            <a:pPr algn="ctr" indent="0" marL="0">
              <a:buNone/>
            </a:pPr>
            <a:r>
              <a:rPr lang="en-US" sz="1600" b="1" dirty="0">
                <a:solidFill>
                  <a:schemeClr val="tx1"/>
                </a:solidFill>
              </a:rPr>
              <a:t>-71.4</a:t>
            </a:r>
            <a:endParaRPr lang="en-US" sz="1100" dirty="0"/>
          </a:p>
        </p:txBody>
      </p:sp>
      <p:sp>
        <p:nvSpPr>
          <p:cNvPr id="17" name="chip-1"/>
          <p:cNvSpPr txBox="1"/>
          <p:nvPr/>
        </p:nvSpPr>
        <p:spPr>
          <a:xfrm>
            <a:off x="6464808" y="1874520"/>
            <a:ext cx="731520" cy="914400"/>
          </a:xfrm>
          <a:prstGeom prst="roundRect">
            <a:avLst>
              <a:gd name="adj" fmla="val 12500"/>
            </a:avLst>
          </a:prstGeom>
          <a:solidFill>
            <a:schemeClr val="bg2"/>
          </a:solidFill>
          <a:ln w="12700">
            <a:solidFill>
              <a:schemeClr val="accent3"/>
            </a:solidFill>
          </a:ln>
        </p:spPr>
        <p:txBody>
          <a:bodyPr wrap="square" lIns="0" tIns="0" rIns="0" bIns="0" rtlCol="0" anchor="ctr"/>
          <a:lstStyle/>
          <a:p>
            <a:pPr algn="ctr" indent="0" marL="0">
              <a:buNone/>
            </a:pPr>
            <a:r>
              <a:rPr lang="en-US" sz="1100" dirty="0">
                <a:solidFill>
                  <a:schemeClr val="tx1"/>
                </a:solidFill>
              </a:rPr>
              <a:t>10:42:11</a:t>
            </a:r>
            <a:endParaRPr lang="en-US" sz="1100" dirty="0"/>
          </a:p>
          <a:p>
            <a:pPr algn="ctr" indent="0" marL="0">
              <a:buNone/>
            </a:pPr>
            <a:r>
              <a:rPr lang="en-US" sz="1600" b="1" dirty="0">
                <a:solidFill>
                  <a:schemeClr val="tx1"/>
                </a:solidFill>
              </a:rPr>
              <a:t>-66.0</a:t>
            </a:r>
            <a:endParaRPr lang="en-US" sz="1100" dirty="0"/>
          </a:p>
        </p:txBody>
      </p:sp>
      <p:sp>
        <p:nvSpPr>
          <p:cNvPr id="18" name="chip-2"/>
          <p:cNvSpPr txBox="1"/>
          <p:nvPr/>
        </p:nvSpPr>
        <p:spPr>
          <a:xfrm>
            <a:off x="7351776" y="1874520"/>
            <a:ext cx="731520" cy="914400"/>
          </a:xfrm>
          <a:prstGeom prst="roundRect">
            <a:avLst>
              <a:gd name="adj" fmla="val 12500"/>
            </a:avLst>
          </a:prstGeom>
          <a:solidFill>
            <a:schemeClr val="bg2"/>
          </a:solidFill>
          <a:ln w="12700">
            <a:solidFill>
              <a:schemeClr val="accent3"/>
            </a:solidFill>
          </a:ln>
        </p:spPr>
        <p:txBody>
          <a:bodyPr wrap="square" lIns="0" tIns="0" rIns="0" bIns="0" rtlCol="0" anchor="ctr"/>
          <a:lstStyle/>
          <a:p>
            <a:pPr algn="ctr" indent="0" marL="0">
              <a:buNone/>
            </a:pPr>
            <a:r>
              <a:rPr lang="en-US" sz="1100" dirty="0">
                <a:solidFill>
                  <a:schemeClr val="tx1"/>
                </a:solidFill>
              </a:rPr>
              <a:t>10:42:16</a:t>
            </a:r>
            <a:endParaRPr lang="en-US" sz="1100" dirty="0"/>
          </a:p>
          <a:p>
            <a:pPr algn="ctr" indent="0" marL="0">
              <a:buNone/>
            </a:pPr>
            <a:r>
              <a:rPr lang="en-US" sz="1600" b="1" dirty="0">
                <a:solidFill>
                  <a:schemeClr val="tx1"/>
                </a:solidFill>
              </a:rPr>
              <a:t>-58.3</a:t>
            </a:r>
            <a:endParaRPr lang="en-US" sz="1100" dirty="0"/>
          </a:p>
        </p:txBody>
      </p:sp>
      <p:sp>
        <p:nvSpPr>
          <p:cNvPr id="19" name="chip-3"/>
          <p:cNvSpPr txBox="1"/>
          <p:nvPr/>
        </p:nvSpPr>
        <p:spPr>
          <a:xfrm>
            <a:off x="8238744" y="1874520"/>
            <a:ext cx="731520" cy="914400"/>
          </a:xfrm>
          <a:prstGeom prst="roundRect">
            <a:avLst>
              <a:gd name="adj" fmla="val 12500"/>
            </a:avLst>
          </a:prstGeom>
          <a:solidFill>
            <a:schemeClr val="bg2"/>
          </a:solidFill>
          <a:ln w="12700">
            <a:solidFill>
              <a:schemeClr val="accent3"/>
            </a:solidFill>
          </a:ln>
        </p:spPr>
        <p:txBody>
          <a:bodyPr wrap="square" lIns="0" tIns="0" rIns="0" bIns="0" rtlCol="0" anchor="ctr"/>
          <a:lstStyle/>
          <a:p>
            <a:pPr algn="ctr" indent="0" marL="0">
              <a:buNone/>
            </a:pPr>
            <a:r>
              <a:rPr lang="en-US" sz="1100" dirty="0">
                <a:solidFill>
                  <a:schemeClr val="tx1"/>
                </a:solidFill>
              </a:rPr>
              <a:t>10:42:21</a:t>
            </a:r>
            <a:endParaRPr lang="en-US" sz="1100" dirty="0"/>
          </a:p>
          <a:p>
            <a:pPr algn="ctr" indent="0" marL="0">
              <a:buNone/>
            </a:pPr>
            <a:r>
              <a:rPr lang="en-US" sz="1600" b="1" dirty="0">
                <a:solidFill>
                  <a:schemeClr val="tx1"/>
                </a:solidFill>
              </a:rPr>
              <a:t>-52.7</a:t>
            </a:r>
            <a:endParaRPr lang="en-US" sz="1100" dirty="0"/>
          </a:p>
        </p:txBody>
      </p:sp>
      <p:sp>
        <p:nvSpPr>
          <p:cNvPr id="20" name="chip-4"/>
          <p:cNvSpPr txBox="1"/>
          <p:nvPr/>
        </p:nvSpPr>
        <p:spPr>
          <a:xfrm>
            <a:off x="9125712" y="1874520"/>
            <a:ext cx="731520" cy="914400"/>
          </a:xfrm>
          <a:prstGeom prst="roundRect">
            <a:avLst>
              <a:gd name="adj" fmla="val 12500"/>
            </a:avLst>
          </a:prstGeom>
          <a:solidFill>
            <a:schemeClr val="accent2"/>
          </a:solidFill>
          <a:ln w="12700">
            <a:solidFill>
              <a:schemeClr val="accent2"/>
            </a:solidFill>
          </a:ln>
        </p:spPr>
        <p:txBody>
          <a:bodyPr wrap="square" lIns="0" tIns="0" rIns="0" bIns="0" rtlCol="0" anchor="ctr"/>
          <a:lstStyle/>
          <a:p>
            <a:pPr algn="ctr" indent="0" marL="0">
              <a:buNone/>
            </a:pPr>
            <a:r>
              <a:rPr lang="en-US" sz="1100" dirty="0">
                <a:solidFill>
                  <a:schemeClr val="tx1"/>
                </a:solidFill>
              </a:rPr>
              <a:t>10:42:24</a:t>
            </a:r>
            <a:endParaRPr lang="en-US" sz="1100" dirty="0"/>
          </a:p>
          <a:p>
            <a:pPr algn="ctr" indent="0" marL="0">
              <a:buNone/>
            </a:pPr>
            <a:r>
              <a:rPr lang="en-US" sz="1600" b="1" dirty="0">
                <a:solidFill>
                  <a:schemeClr val="tx1"/>
                </a:solidFill>
              </a:rPr>
              <a:t>-49.1</a:t>
            </a:r>
            <a:endParaRPr lang="en-US" sz="1100" dirty="0"/>
          </a:p>
        </p:txBody>
      </p:sp>
      <p:sp>
        <p:nvSpPr>
          <p:cNvPr id="21" name="Text 19"/>
          <p:cNvSpPr txBox="1"/>
          <p:nvPr/>
        </p:nvSpPr>
        <p:spPr>
          <a:xfrm>
            <a:off x="9125712" y="2834640"/>
            <a:ext cx="731520" cy="274320"/>
          </a:xfrm>
          <a:prstGeom prst="rect">
            <a:avLst/>
          </a:prstGeom>
          <a:noFill/>
          <a:ln/>
        </p:spPr>
        <p:txBody>
          <a:bodyPr wrap="square" lIns="0" tIns="0" rIns="0" bIns="0" rtlCol="0" anchor="t"/>
          <a:lstStyle/>
          <a:p>
            <a:pPr algn="ctr" indent="0" marL="0">
              <a:buNone/>
            </a:pPr>
            <a:r>
              <a:rPr lang="en-US" sz="1200" b="1" dirty="0">
                <a:solidFill>
                  <a:schemeClr val="tx1"/>
                </a:solidFill>
              </a:rPr>
              <a:t>kept</a:t>
            </a:r>
            <a:endParaRPr lang="en-US" sz="1200" dirty="0"/>
          </a:p>
        </p:txBody>
      </p:sp>
      <p:sp>
        <p:nvSpPr>
          <p:cNvPr id="22" name="chip-5"/>
          <p:cNvSpPr txBox="1"/>
          <p:nvPr/>
        </p:nvSpPr>
        <p:spPr>
          <a:xfrm>
            <a:off x="10012680" y="1874520"/>
            <a:ext cx="731520" cy="914400"/>
          </a:xfrm>
          <a:prstGeom prst="roundRect">
            <a:avLst>
              <a:gd name="adj" fmla="val 12500"/>
            </a:avLst>
          </a:prstGeom>
          <a:solidFill>
            <a:schemeClr val="bg2"/>
          </a:solidFill>
          <a:ln w="12700">
            <a:solidFill>
              <a:schemeClr val="accent3"/>
            </a:solidFill>
          </a:ln>
        </p:spPr>
        <p:txBody>
          <a:bodyPr wrap="square" lIns="0" tIns="0" rIns="0" bIns="0" rtlCol="0" anchor="ctr"/>
          <a:lstStyle/>
          <a:p>
            <a:pPr algn="ctr" indent="0" marL="0">
              <a:buNone/>
            </a:pPr>
            <a:r>
              <a:rPr lang="en-US" sz="1100" dirty="0">
                <a:solidFill>
                  <a:schemeClr val="tx1"/>
                </a:solidFill>
              </a:rPr>
              <a:t>10:42:30</a:t>
            </a:r>
            <a:endParaRPr lang="en-US" sz="1100" dirty="0"/>
          </a:p>
          <a:p>
            <a:pPr algn="ctr" indent="0" marL="0">
              <a:buNone/>
            </a:pPr>
            <a:r>
              <a:rPr lang="en-US" sz="1600" b="1" dirty="0">
                <a:solidFill>
                  <a:schemeClr val="tx1"/>
                </a:solidFill>
              </a:rPr>
              <a:t>-55.6</a:t>
            </a:r>
            <a:endParaRPr lang="en-US" sz="1100" dirty="0"/>
          </a:p>
        </p:txBody>
      </p:sp>
      <p:sp>
        <p:nvSpPr>
          <p:cNvPr id="23" name="chip-6"/>
          <p:cNvSpPr txBox="1"/>
          <p:nvPr/>
        </p:nvSpPr>
        <p:spPr>
          <a:xfrm>
            <a:off x="10899648" y="1874520"/>
            <a:ext cx="731520" cy="914400"/>
          </a:xfrm>
          <a:prstGeom prst="roundRect">
            <a:avLst>
              <a:gd name="adj" fmla="val 12500"/>
            </a:avLst>
          </a:prstGeom>
          <a:solidFill>
            <a:schemeClr val="bg2"/>
          </a:solidFill>
          <a:ln w="12700">
            <a:solidFill>
              <a:schemeClr val="accent3"/>
            </a:solidFill>
          </a:ln>
        </p:spPr>
        <p:txBody>
          <a:bodyPr wrap="square" lIns="0" tIns="0" rIns="0" bIns="0" rtlCol="0" anchor="ctr"/>
          <a:lstStyle/>
          <a:p>
            <a:pPr algn="ctr" indent="0" marL="0">
              <a:buNone/>
            </a:pPr>
            <a:r>
              <a:rPr lang="en-US" sz="1100" dirty="0">
                <a:solidFill>
                  <a:schemeClr val="tx1"/>
                </a:solidFill>
              </a:rPr>
              <a:t>10:42:38</a:t>
            </a:r>
            <a:endParaRPr lang="en-US" sz="1100" dirty="0"/>
          </a:p>
          <a:p>
            <a:pPr algn="ctr" indent="0" marL="0">
              <a:buNone/>
            </a:pPr>
            <a:r>
              <a:rPr lang="en-US" sz="1600" b="1" dirty="0">
                <a:solidFill>
                  <a:schemeClr val="tx1"/>
                </a:solidFill>
              </a:rPr>
              <a:t>-63.8</a:t>
            </a:r>
            <a:endParaRPr lang="en-US" sz="1100" dirty="0"/>
          </a:p>
        </p:txBody>
      </p:sp>
      <p:sp>
        <p:nvSpPr>
          <p:cNvPr id="24" name="Text 22"/>
          <p:cNvSpPr txBox="1"/>
          <p:nvPr/>
        </p:nvSpPr>
        <p:spPr>
          <a:xfrm>
            <a:off x="5577840" y="3337560"/>
            <a:ext cx="6062472" cy="320040"/>
          </a:xfrm>
          <a:prstGeom prst="rect">
            <a:avLst/>
          </a:prstGeom>
          <a:noFill/>
          <a:ln/>
        </p:spPr>
        <p:txBody>
          <a:bodyPr wrap="square" lIns="0" tIns="0" rIns="0" bIns="0" rtlCol="0" anchor="t"/>
          <a:lstStyle/>
          <a:p>
            <a:pPr indent="0" marL="0">
              <a:buNone/>
            </a:pPr>
            <a:r>
              <a:rPr lang="en-US" sz="1400" dirty="0">
                <a:solidFill>
                  <a:schemeClr val="tx1"/>
                </a:solidFill>
              </a:rPr>
              <a:t>Same thing happens for every plaza and tag. The batch table ends up like this:</a:t>
            </a:r>
            <a:endParaRPr lang="en-US" sz="1400" dirty="0"/>
          </a:p>
        </p:txBody>
      </p:sp>
      <p:graphicFrame>
        <p:nvGraphicFramePr>
          <p:cNvPr id="5" name="batch-table"/>
          <p:cNvGraphicFramePr>
            <a:graphicFrameLocks noGrp="1"/>
          </p:cNvGraphicFramePr>
          <p:nvPr>
            <p:extLst>
              <p:ext uri="{D42A27DB-BD31-4B8C-83A1-F6EECF244321}">
                <p14:modId xmlns:p14="http://schemas.microsoft.com/office/powerpoint/2010/main" val="1579011935"/>
              </p:ext>
            </p:extLst>
          </p:nvPr>
        </p:nvGraphicFramePr>
        <p:xfrm>
          <a:off x="5577840" y="3794760"/>
          <a:ext cx="6062472" cy="914400"/>
        </p:xfrm>
        <a:graphic>
          <a:graphicData uri="http://schemas.openxmlformats.org/drawingml/2006/table">
            <a:tbl>
              <a:tblPr/>
              <a:tblGrid>
                <a:gridCol w="914400"/>
                <a:gridCol w="1508760"/>
                <a:gridCol w="1463040"/>
                <a:gridCol w="822960"/>
                <a:gridCol w="1353312"/>
              </a:tblGrid>
              <a:tr h="384048">
                <a:tc>
                  <a:txBody>
                    <a:bodyPr/>
                    <a:lstStyle/>
                    <a:p>
                      <a:pPr indent="0" marL="0">
                        <a:buNone/>
                      </a:pPr>
                      <a:r>
                        <a:rPr lang="en-US" sz="1400" b="1" dirty="0">
                          <a:solidFill>
                            <a:schemeClr val="bg2"/>
                          </a:solidFill>
                        </a:rPr>
                        <a:t>plaza_id</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tag_id</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ping_timestamp</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rssi</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2"/>
                          </a:solidFill>
                        </a:rPr>
                        <a:t>pings merged</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r>
              <a:tr h="384048">
                <a:tc>
                  <a:txBody>
                    <a:bodyPr/>
                    <a:lstStyle/>
                    <a:p>
                      <a:pPr algn="l" indent="0" marL="0">
                        <a:buNone/>
                      </a:pPr>
                      <a:r>
                        <a:rPr lang="en-US" sz="1400" dirty="0">
                          <a:solidFill>
                            <a:schemeClr val="tx1"/>
                          </a:solidFill>
                        </a:rPr>
                        <a:t>201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TAG_883921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10:42:24</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-49.1</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7</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r>
              <a:tr h="384048">
                <a:tc>
                  <a:txBody>
                    <a:bodyPr/>
                    <a:lstStyle/>
                    <a:p>
                      <a:pPr algn="l" indent="0" marL="0">
                        <a:buNone/>
                      </a:pPr>
                      <a:r>
                        <a:rPr lang="en-US" sz="1400" dirty="0">
                          <a:solidFill>
                            <a:schemeClr val="tx1"/>
                          </a:solidFill>
                        </a:rPr>
                        <a:t>202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TAG_441029</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10:42:20</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-54.9</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3</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r>
              <a:tr h="384048">
                <a:tc>
                  <a:txBody>
                    <a:bodyPr/>
                    <a:lstStyle/>
                    <a:p>
                      <a:pPr algn="l" indent="0" marL="0">
                        <a:buNone/>
                      </a:pPr>
                      <a:r>
                        <a:rPr lang="en-US" sz="1400" dirty="0">
                          <a:solidFill>
                            <a:schemeClr val="tx1"/>
                          </a:solidFill>
                        </a:rPr>
                        <a:t>203</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TAG_770045</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l" indent="0" marL="0">
                        <a:buNone/>
                      </a:pPr>
                      <a:r>
                        <a:rPr lang="en-US" sz="1400" dirty="0">
                          <a:solidFill>
                            <a:schemeClr val="tx1"/>
                          </a:solidFill>
                        </a:rPr>
                        <a:t>10:42:45</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-51.8</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rPr>
                        <a:t>2</a:t>
                      </a:r>
                      <a:endParaRPr lang="en-US" sz="14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bg2"/>
                    </a:solidFill>
                  </a:tcPr>
                </a:tc>
              </a:tr>
            </a:tbl>
          </a:graphicData>
        </a:graphic>
      </p:graphicFrame>
      <p:sp>
        <p:nvSpPr>
          <p:cNvPr id="26" name="Text 23"/>
          <p:cNvSpPr txBox="1"/>
          <p:nvPr/>
        </p:nvSpPr>
        <p:spPr>
          <a:xfrm>
            <a:off x="5577840" y="5532120"/>
            <a:ext cx="6062472" cy="274320"/>
          </a:xfrm>
          <a:prstGeom prst="rect">
            <a:avLst/>
          </a:prstGeom>
          <a:noFill/>
          <a:ln/>
        </p:spPr>
        <p:txBody>
          <a:bodyPr wrap="square" lIns="0" tIns="0" rIns="0" bIns="0" rtlCol="0" anchor="t"/>
          <a:lstStyle/>
          <a:p>
            <a:pPr indent="0" marL="0">
              <a:buNone/>
            </a:pPr>
            <a:r>
              <a:rPr lang="en-US" sz="1200" dirty="0">
                <a:solidFill>
                  <a:schemeClr val="tx2"/>
                </a:solidFill>
              </a:rPr>
              <a:t>Sample values for one run.</a:t>
            </a:r>
            <a:endParaRPr lang="en-US" sz="1200" dirty="0"/>
          </a:p>
        </p:txBody>
      </p:sp>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The dashboard</a:t>
            </a:r>
            <a:endParaRPr lang="en-US" sz="3400" dirty="0"/>
          </a:p>
        </p:txBody>
      </p:sp>
      <p:sp>
        <p:nvSpPr>
          <p:cNvPr id="3" name="dashboard-frame"/>
          <p:cNvSpPr/>
          <p:nvPr/>
        </p:nvSpPr>
        <p:spPr>
          <a:xfrm>
            <a:off x="548640" y="1417320"/>
            <a:ext cx="7680960" cy="4754880"/>
          </a:xfrm>
          <a:prstGeom prst="roundRect">
            <a:avLst>
              <a:gd name="adj" fmla="val 2308"/>
            </a:avLst>
          </a:prstGeom>
          <a:solidFill>
            <a:schemeClr val="bg2"/>
          </a:solidFill>
          <a:ln/>
          <a:effectLst>
            <a:outerShdw sx="100000" sy="100000" kx="0" ky="0" algn="bl" rotWithShape="0" blurRad="101600" dist="25400" dir="5400000">
              <a:srgbClr val="1F3A2B">
                <a:alpha val="12000"/>
              </a:srgbClr>
            </a:outerShdw>
          </a:effectLst>
        </p:spPr>
      </p:sp>
      <p:sp>
        <p:nvSpPr>
          <p:cNvPr id="4" name="counter-0"/>
          <p:cNvSpPr/>
          <p:nvPr/>
        </p:nvSpPr>
        <p:spPr>
          <a:xfrm>
            <a:off x="777240" y="1645920"/>
            <a:ext cx="3520440" cy="1051560"/>
          </a:xfrm>
          <a:prstGeom prst="roundRect">
            <a:avLst>
              <a:gd name="adj" fmla="val 8696"/>
            </a:avLst>
          </a:prstGeom>
          <a:solidFill>
            <a:schemeClr val="accent4"/>
          </a:solidFill>
          <a:ln/>
        </p:spPr>
      </p:sp>
      <p:sp>
        <p:nvSpPr>
          <p:cNvPr id="5" name="Text 3"/>
          <p:cNvSpPr txBox="1"/>
          <p:nvPr/>
        </p:nvSpPr>
        <p:spPr>
          <a:xfrm>
            <a:off x="1005840" y="1645920"/>
            <a:ext cx="1097280" cy="1051560"/>
          </a:xfrm>
          <a:prstGeom prst="rect">
            <a:avLst/>
          </a:prstGeom>
          <a:noFill/>
          <a:ln/>
        </p:spPr>
        <p:txBody>
          <a:bodyPr wrap="square" lIns="0" tIns="0" rIns="0" bIns="0" rtlCol="0" anchor="ctr"/>
          <a:lstStyle/>
          <a:p>
            <a:pPr algn="l" indent="0" marL="0">
              <a:buNone/>
            </a:pPr>
            <a:r>
              <a:rPr lang="en-US" sz="4000" b="1" dirty="0">
                <a:solidFill>
                  <a:schemeClr val="tx1"/>
                </a:solidFill>
              </a:rPr>
              <a:t>12</a:t>
            </a:r>
            <a:endParaRPr lang="en-US" sz="4000" dirty="0"/>
          </a:p>
        </p:txBody>
      </p:sp>
      <p:sp>
        <p:nvSpPr>
          <p:cNvPr id="6" name="Text 4"/>
          <p:cNvSpPr txBox="1"/>
          <p:nvPr/>
        </p:nvSpPr>
        <p:spPr>
          <a:xfrm>
            <a:off x="1828800" y="1645920"/>
            <a:ext cx="2286000" cy="1051560"/>
          </a:xfrm>
          <a:prstGeom prst="rect">
            <a:avLst/>
          </a:prstGeom>
          <a:noFill/>
          <a:ln/>
        </p:spPr>
        <p:txBody>
          <a:bodyPr wrap="square" lIns="0" tIns="0" rIns="0" bIns="0" rtlCol="0" anchor="ctr"/>
          <a:lstStyle/>
          <a:p>
            <a:pPr algn="l" indent="0" marL="0">
              <a:buNone/>
            </a:pPr>
            <a:r>
              <a:rPr lang="en-US" sz="1600" dirty="0">
                <a:solidFill>
                  <a:schemeClr val="tx1"/>
                </a:solidFill>
              </a:rPr>
              <a:t>pings received</a:t>
            </a:r>
            <a:endParaRPr lang="en-US" sz="1600" dirty="0"/>
          </a:p>
        </p:txBody>
      </p:sp>
      <p:sp>
        <p:nvSpPr>
          <p:cNvPr id="7" name="counter-1"/>
          <p:cNvSpPr/>
          <p:nvPr/>
        </p:nvSpPr>
        <p:spPr>
          <a:xfrm>
            <a:off x="4480560" y="1645920"/>
            <a:ext cx="3520440" cy="1051560"/>
          </a:xfrm>
          <a:prstGeom prst="roundRect">
            <a:avLst>
              <a:gd name="adj" fmla="val 8696"/>
            </a:avLst>
          </a:prstGeom>
          <a:solidFill>
            <a:schemeClr val="accent4"/>
          </a:solidFill>
          <a:ln/>
        </p:spPr>
      </p:sp>
      <p:sp>
        <p:nvSpPr>
          <p:cNvPr id="8" name="Text 6"/>
          <p:cNvSpPr txBox="1"/>
          <p:nvPr/>
        </p:nvSpPr>
        <p:spPr>
          <a:xfrm>
            <a:off x="4709160" y="1645920"/>
            <a:ext cx="1097280" cy="1051560"/>
          </a:xfrm>
          <a:prstGeom prst="rect">
            <a:avLst/>
          </a:prstGeom>
          <a:noFill/>
          <a:ln/>
        </p:spPr>
        <p:txBody>
          <a:bodyPr wrap="square" lIns="0" tIns="0" rIns="0" bIns="0" rtlCol="0" anchor="ctr"/>
          <a:lstStyle/>
          <a:p>
            <a:pPr algn="l" indent="0" marL="0">
              <a:buNone/>
            </a:pPr>
            <a:r>
              <a:rPr lang="en-US" sz="4000" b="1" dirty="0">
                <a:solidFill>
                  <a:schemeClr val="tx1"/>
                </a:solidFill>
              </a:rPr>
              <a:t>3</a:t>
            </a:r>
            <a:endParaRPr lang="en-US" sz="4000" dirty="0"/>
          </a:p>
        </p:txBody>
      </p:sp>
      <p:sp>
        <p:nvSpPr>
          <p:cNvPr id="9" name="Text 7"/>
          <p:cNvSpPr txBox="1"/>
          <p:nvPr/>
        </p:nvSpPr>
        <p:spPr>
          <a:xfrm>
            <a:off x="5532120" y="1645920"/>
            <a:ext cx="2286000" cy="1051560"/>
          </a:xfrm>
          <a:prstGeom prst="rect">
            <a:avLst/>
          </a:prstGeom>
          <a:noFill/>
          <a:ln/>
        </p:spPr>
        <p:txBody>
          <a:bodyPr wrap="square" lIns="0" tIns="0" rIns="0" bIns="0" rtlCol="0" anchor="ctr"/>
          <a:lstStyle/>
          <a:p>
            <a:pPr algn="l" indent="0" marL="0">
              <a:buNone/>
            </a:pPr>
            <a:r>
              <a:rPr lang="en-US" sz="1600" dirty="0">
                <a:solidFill>
                  <a:schemeClr val="tx1"/>
                </a:solidFill>
              </a:rPr>
              <a:t>after deduplication</a:t>
            </a:r>
            <a:endParaRPr lang="en-US" sz="1600" dirty="0"/>
          </a:p>
        </p:txBody>
      </p:sp>
      <p:sp>
        <p:nvSpPr>
          <p:cNvPr id="10" name="Text 8"/>
          <p:cNvSpPr txBox="1"/>
          <p:nvPr/>
        </p:nvSpPr>
        <p:spPr>
          <a:xfrm>
            <a:off x="777240" y="2926080"/>
            <a:ext cx="3520440" cy="320040"/>
          </a:xfrm>
          <a:prstGeom prst="rect">
            <a:avLst/>
          </a:prstGeom>
          <a:noFill/>
          <a:ln/>
        </p:spPr>
        <p:txBody>
          <a:bodyPr wrap="square" lIns="0" tIns="0" rIns="0" bIns="0" rtlCol="0" anchor="t"/>
          <a:lstStyle/>
          <a:p>
            <a:pPr indent="0" marL="0">
              <a:buNone/>
            </a:pPr>
            <a:r>
              <a:rPr lang="en-US" sz="1400" b="1" dirty="0">
                <a:solidFill>
                  <a:schemeClr val="tx2"/>
                </a:solidFill>
              </a:rPr>
              <a:t>NoSQL layer: Raw_RFID_Pings</a:t>
            </a:r>
            <a:endParaRPr lang="en-US" sz="1400" dirty="0"/>
          </a:p>
        </p:txBody>
      </p:sp>
      <p:sp>
        <p:nvSpPr>
          <p:cNvPr id="11" name="Text 9"/>
          <p:cNvSpPr txBox="1"/>
          <p:nvPr/>
        </p:nvSpPr>
        <p:spPr>
          <a:xfrm>
            <a:off x="4480560" y="2926080"/>
            <a:ext cx="3520440" cy="320040"/>
          </a:xfrm>
          <a:prstGeom prst="rect">
            <a:avLst/>
          </a:prstGeom>
          <a:noFill/>
          <a:ln/>
        </p:spPr>
        <p:txBody>
          <a:bodyPr wrap="square" lIns="0" tIns="0" rIns="0" bIns="0" rtlCol="0" anchor="t"/>
          <a:lstStyle/>
          <a:p>
            <a:pPr indent="0" marL="0">
              <a:buNone/>
            </a:pPr>
            <a:r>
              <a:rPr lang="en-US" sz="1400" b="1" dirty="0">
                <a:solidFill>
                  <a:schemeClr val="tx2"/>
                </a:solidFill>
              </a:rPr>
              <a:t>Batch layer: deduplicated events</a:t>
            </a:r>
            <a:endParaRPr lang="en-US" sz="1400" dirty="0"/>
          </a:p>
        </p:txBody>
      </p:sp>
      <p:graphicFrame>
        <p:nvGraphicFramePr>
          <p:cNvPr id="6" name="dash-raw-table"/>
          <p:cNvGraphicFramePr>
            <a:graphicFrameLocks noGrp="1"/>
          </p:cNvGraphicFramePr>
          <p:nvPr>
            <p:extLst>
              <p:ext uri="{D42A27DB-BD31-4B8C-83A1-F6EECF244321}">
                <p14:modId xmlns:p14="http://schemas.microsoft.com/office/powerpoint/2010/main" val="1579011935"/>
              </p:ext>
            </p:extLst>
          </p:nvPr>
        </p:nvGraphicFramePr>
        <p:xfrm>
          <a:off x="777240" y="3337560"/>
          <a:ext cx="3520440" cy="914400"/>
        </p:xfrm>
        <a:graphic>
          <a:graphicData uri="http://schemas.openxmlformats.org/drawingml/2006/table">
            <a:tbl>
              <a:tblPr/>
              <a:tblGrid>
                <a:gridCol w="640080"/>
                <a:gridCol w="1188720"/>
                <a:gridCol w="914400"/>
                <a:gridCol w="777240"/>
              </a:tblGrid>
              <a:tr h="347472">
                <a:tc>
                  <a:txBody>
                    <a:bodyPr/>
                    <a:lstStyle/>
                    <a:p>
                      <a:pPr indent="0" marL="0">
                        <a:buNone/>
                      </a:pPr>
                      <a:r>
                        <a:rPr lang="en-US" sz="1200" b="1" dirty="0">
                          <a:solidFill>
                            <a:schemeClr val="bg2"/>
                          </a:solidFill>
                        </a:rPr>
                        <a:t>plaza</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2"/>
                          </a:solidFill>
                        </a:rPr>
                        <a:t>tag_id</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2"/>
                          </a:solidFill>
                        </a:rPr>
                        <a:t>time</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2"/>
                          </a:solidFill>
                        </a:rPr>
                        <a:t>rssi</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r>
              <a:tr h="347472">
                <a:tc>
                  <a:txBody>
                    <a:bodyPr/>
                    <a:lstStyle/>
                    <a:p>
                      <a:pPr algn="l" indent="0" marL="0">
                        <a:buNone/>
                      </a:pPr>
                      <a:r>
                        <a:rPr lang="en-US" sz="1200" dirty="0">
                          <a:solidFill>
                            <a:schemeClr val="tx1"/>
                          </a:solidFill>
                        </a:rPr>
                        <a:t>203</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TAG_770045</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10:42:45</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-51.8</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200" dirty="0">
                          <a:solidFill>
                            <a:schemeClr val="tx1"/>
                          </a:solidFill>
                        </a:rPr>
                        <a:t>203</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TAG_770045</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10:42:44</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-60.5</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200" dirty="0">
                          <a:solidFill>
                            <a:schemeClr val="tx1"/>
                          </a:solidFill>
                        </a:rPr>
                        <a:t>201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TAG_883921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10:42:38</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-63.8</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200" dirty="0">
                          <a:solidFill>
                            <a:schemeClr val="tx1"/>
                          </a:solidFill>
                        </a:rPr>
                        <a:t>201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TAG_883921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10:42:30</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-55.6</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200" dirty="0">
                          <a:solidFill>
                            <a:schemeClr val="tx1"/>
                          </a:solidFill>
                        </a:rPr>
                        <a:t>201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TAG_883921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10:42:24</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-49.1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bl>
          </a:graphicData>
        </a:graphic>
      </p:graphicFrame>
      <p:graphicFrame>
        <p:nvGraphicFramePr>
          <p:cNvPr id="11" name="dash-batch-table"/>
          <p:cNvGraphicFramePr>
            <a:graphicFrameLocks noGrp="1"/>
          </p:cNvGraphicFramePr>
          <p:nvPr>
            <p:extLst>
              <p:ext uri="{D42A27DB-BD31-4B8C-83A1-F6EECF244321}">
                <p14:modId xmlns:p14="http://schemas.microsoft.com/office/powerpoint/2010/main" val="1579011935"/>
              </p:ext>
            </p:extLst>
          </p:nvPr>
        </p:nvGraphicFramePr>
        <p:xfrm>
          <a:off x="4480560" y="3337560"/>
          <a:ext cx="3520440" cy="914400"/>
        </p:xfrm>
        <a:graphic>
          <a:graphicData uri="http://schemas.openxmlformats.org/drawingml/2006/table">
            <a:tbl>
              <a:tblPr/>
              <a:tblGrid>
                <a:gridCol w="640080"/>
                <a:gridCol w="1188720"/>
                <a:gridCol w="914400"/>
                <a:gridCol w="777240"/>
              </a:tblGrid>
              <a:tr h="347472">
                <a:tc>
                  <a:txBody>
                    <a:bodyPr/>
                    <a:lstStyle/>
                    <a:p>
                      <a:pPr indent="0" marL="0">
                        <a:buNone/>
                      </a:pPr>
                      <a:r>
                        <a:rPr lang="en-US" sz="1200" b="1" dirty="0">
                          <a:solidFill>
                            <a:schemeClr val="bg2"/>
                          </a:solidFill>
                        </a:rPr>
                        <a:t>plaza</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2"/>
                          </a:solidFill>
                        </a:rPr>
                        <a:t>tag_id</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2"/>
                          </a:solidFill>
                        </a:rPr>
                        <a:t>time</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2"/>
                          </a:solidFill>
                        </a:rPr>
                        <a:t>rssi</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solidFill>
                      <a:schemeClr val="accent1"/>
                    </a:solidFill>
                  </a:tcPr>
                </a:tc>
              </a:tr>
              <a:tr h="347472">
                <a:tc>
                  <a:txBody>
                    <a:bodyPr/>
                    <a:lstStyle/>
                    <a:p>
                      <a:pPr algn="l" indent="0" marL="0">
                        <a:buNone/>
                      </a:pPr>
                      <a:r>
                        <a:rPr lang="en-US" sz="1200" dirty="0">
                          <a:solidFill>
                            <a:schemeClr val="tx1"/>
                          </a:solidFill>
                        </a:rPr>
                        <a:t>201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TAG_883921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10:42:24</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-49.1</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200" dirty="0">
                          <a:solidFill>
                            <a:schemeClr val="tx1"/>
                          </a:solidFill>
                        </a:rPr>
                        <a:t>202</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TAG_441029</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10:42:20</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-54.9</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r h="347472">
                <a:tc>
                  <a:txBody>
                    <a:bodyPr/>
                    <a:lstStyle/>
                    <a:p>
                      <a:pPr algn="l" indent="0" marL="0">
                        <a:buNone/>
                      </a:pPr>
                      <a:r>
                        <a:rPr lang="en-US" sz="1200" dirty="0">
                          <a:solidFill>
                            <a:schemeClr val="tx1"/>
                          </a:solidFill>
                        </a:rPr>
                        <a:t>203</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TAG_770045</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l" indent="0" marL="0">
                        <a:buNone/>
                      </a:pPr>
                      <a:r>
                        <a:rPr lang="en-US" sz="1200" dirty="0">
                          <a:solidFill>
                            <a:schemeClr val="tx1"/>
                          </a:solidFill>
                        </a:rPr>
                        <a:t>10:42:45</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c>
                  <a:txBody>
                    <a:bodyPr/>
                    <a:lstStyle/>
                    <a:p>
                      <a:pPr algn="r" indent="0" marL="0">
                        <a:buNone/>
                      </a:pPr>
                      <a:r>
                        <a:rPr lang="en-US" sz="1200" dirty="0">
                          <a:solidFill>
                            <a:schemeClr val="tx1"/>
                          </a:solidFill>
                        </a:rPr>
                        <a:t>-51.8</a:t>
                      </a:r>
                      <a:endParaRPr lang="en-US" sz="1200" dirty="0"/>
                    </a:p>
                  </a:txBody>
                  <a:tcPr marL="91440" marR="91440" marT="45720" marB="45720" anchor="ctr">
                    <a:lnL w="9525" cap="flat" cmpd="sng" algn="ctr">
                      <a:solidFill>
                        <a:srgbClr val="D5E6D1"/>
                      </a:solidFill>
                      <a:prstDash val="solid"/>
                      <a:round/>
                      <a:headEnd type="none" w="med" len="med"/>
                      <a:tailEnd type="none" w="med" len="med"/>
                    </a:lnL>
                    <a:lnR w="9525" cap="flat" cmpd="sng" algn="ctr">
                      <a:solidFill>
                        <a:srgbClr val="D5E6D1"/>
                      </a:solidFill>
                      <a:prstDash val="solid"/>
                      <a:round/>
                      <a:headEnd type="none" w="med" len="med"/>
                      <a:tailEnd type="none" w="med" len="med"/>
                    </a:lnR>
                    <a:lnT w="9525" cap="flat" cmpd="sng" algn="ctr">
                      <a:solidFill>
                        <a:srgbClr val="D5E6D1"/>
                      </a:solidFill>
                      <a:prstDash val="solid"/>
                      <a:round/>
                      <a:headEnd type="none" w="med" len="med"/>
                      <a:tailEnd type="none" w="med" len="med"/>
                    </a:lnT>
                    <a:lnB w="9525" cap="flat" cmpd="sng" algn="ctr">
                      <a:solidFill>
                        <a:srgbClr val="D5E6D1"/>
                      </a:solidFill>
                      <a:prstDash val="solid"/>
                      <a:round/>
                      <a:headEnd type="none" w="med" len="med"/>
                      <a:tailEnd type="none" w="med" len="med"/>
                    </a:lnB>
                  </a:tcPr>
                </a:tc>
              </a:tr>
            </a:tbl>
          </a:graphicData>
        </a:graphic>
      </p:graphicFrame>
      <p:sp>
        <p:nvSpPr>
          <p:cNvPr id="14" name="Text 10"/>
          <p:cNvSpPr txBox="1"/>
          <p:nvPr/>
        </p:nvSpPr>
        <p:spPr>
          <a:xfrm>
            <a:off x="777240" y="5577840"/>
            <a:ext cx="3520440" cy="274320"/>
          </a:xfrm>
          <a:prstGeom prst="rect">
            <a:avLst/>
          </a:prstGeom>
          <a:noFill/>
          <a:ln/>
        </p:spPr>
        <p:txBody>
          <a:bodyPr wrap="square" lIns="0" tIns="0" rIns="0" bIns="0" rtlCol="0" anchor="t"/>
          <a:lstStyle/>
          <a:p>
            <a:pPr indent="0" marL="0">
              <a:buNone/>
            </a:pPr>
            <a:r>
              <a:rPr lang="en-US" sz="1200" dirty="0">
                <a:solidFill>
                  <a:schemeClr val="tx2"/>
                </a:solidFill>
              </a:rPr>
              <a:t>5 of 12 rows</a:t>
            </a:r>
            <a:endParaRPr lang="en-US" sz="1200" dirty="0"/>
          </a:p>
        </p:txBody>
      </p:sp>
      <p:sp>
        <p:nvSpPr>
          <p:cNvPr id="15" name="Text 11"/>
          <p:cNvSpPr txBox="1"/>
          <p:nvPr/>
        </p:nvSpPr>
        <p:spPr>
          <a:xfrm>
            <a:off x="4480560" y="5577840"/>
            <a:ext cx="3520440" cy="274320"/>
          </a:xfrm>
          <a:prstGeom prst="rect">
            <a:avLst/>
          </a:prstGeom>
          <a:noFill/>
          <a:ln/>
        </p:spPr>
        <p:txBody>
          <a:bodyPr wrap="square" lIns="0" tIns="0" rIns="0" bIns="0" rtlCol="0" anchor="t"/>
          <a:lstStyle/>
          <a:p>
            <a:pPr indent="0" marL="0">
              <a:buNone/>
            </a:pPr>
            <a:r>
              <a:rPr lang="en-US" sz="1200" dirty="0">
                <a:solidFill>
                  <a:schemeClr val="tx2"/>
                </a:solidFill>
              </a:rPr>
              <a:t>3 events</a:t>
            </a:r>
            <a:endParaRPr lang="en-US" sz="1200" dirty="0"/>
          </a:p>
        </p:txBody>
      </p:sp>
      <p:sp>
        <p:nvSpPr>
          <p:cNvPr id="16" name="Text 12"/>
          <p:cNvSpPr txBox="1"/>
          <p:nvPr/>
        </p:nvSpPr>
        <p:spPr>
          <a:xfrm>
            <a:off x="8595360" y="1463040"/>
            <a:ext cx="3044952" cy="3931920"/>
          </a:xfrm>
          <a:prstGeom prst="rect">
            <a:avLst/>
          </a:prstGeom>
          <a:noFill/>
          <a:ln/>
        </p:spPr>
        <p:txBody>
          <a:bodyPr wrap="square" lIns="0" tIns="0" rIns="0" bIns="0" rtlCol="0" anchor="t"/>
          <a:lstStyle/>
          <a:p>
            <a:pPr indent="0" marL="0">
              <a:spcAft>
                <a:spcPts val="1400"/>
              </a:spcAft>
              <a:buNone/>
            </a:pPr>
            <a:r>
              <a:rPr lang="en-US" sz="1600" dirty="0">
                <a:solidFill>
                  <a:schemeClr val="tx1"/>
                </a:solidFill>
              </a:rPr>
              <a:t>Two counters on top. Pings received is everything in the NoSQL table. The other is what is left after the batch job.</a:t>
            </a:r>
            <a:endParaRPr lang="en-US" sz="1600" dirty="0"/>
          </a:p>
          <a:p>
            <a:pPr indent="0" marL="0">
              <a:spcAft>
                <a:spcPts val="1400"/>
              </a:spcAft>
              <a:buNone/>
            </a:pPr>
            <a:r>
              <a:rPr lang="en-US" sz="1600" dirty="0">
                <a:solidFill>
                  <a:schemeClr val="tx1"/>
                </a:solidFill>
              </a:rPr>
              <a:t>Below them are the two tables side by side, raw on the left and cleaned on the right, so you can see which pings got dropped.</a:t>
            </a:r>
            <a:endParaRPr lang="en-US" sz="1600" dirty="0"/>
          </a:p>
          <a:p>
            <a:pPr indent="0" marL="0">
              <a:buNone/>
            </a:pPr>
            <a:r>
              <a:rPr lang="en-US" sz="1600" dirty="0">
                <a:solidFill>
                  <a:schemeClr val="tx1"/>
                </a:solidFill>
              </a:rPr>
              <a:t>It only runs on localhost. It is for us to check the layers, not for toll plaza staff.</a:t>
            </a:r>
            <a:endParaRPr lang="en-US" sz="1600" dirty="0"/>
          </a:p>
        </p:txBody>
      </p:sp>
      <p:sp>
        <p:nvSpPr>
          <p:cNvPr id="17" name="Text 13"/>
          <p:cNvSpPr txBox="1"/>
          <p:nvPr/>
        </p:nvSpPr>
        <p:spPr>
          <a:xfrm>
            <a:off x="8595360" y="5623560"/>
            <a:ext cx="3044952" cy="457200"/>
          </a:xfrm>
          <a:prstGeom prst="rect">
            <a:avLst/>
          </a:prstGeom>
          <a:noFill/>
          <a:ln/>
        </p:spPr>
        <p:txBody>
          <a:bodyPr wrap="square" lIns="0" tIns="0" rIns="0" bIns="0" rtlCol="0" anchor="t"/>
          <a:lstStyle/>
          <a:p>
            <a:pPr indent="0" marL="0">
              <a:buNone/>
            </a:pPr>
            <a:r>
              <a:rPr lang="en-US" sz="1200" dirty="0">
                <a:solidFill>
                  <a:schemeClr val="tx2"/>
                </a:solidFill>
              </a:rPr>
              <a:t>Layout redrawn for this slide. Numbers are sample values.</a:t>
            </a:r>
            <a:endParaRPr lang="en-US" sz="1200" dirty="0"/>
          </a:p>
        </p:txBody>
      </p:sp>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What we check on the dashboard</a:t>
            </a:r>
            <a:endParaRPr lang="en-US" sz="3400" dirty="0"/>
          </a:p>
        </p:txBody>
      </p:sp>
      <p:sp>
        <p:nvSpPr>
          <p:cNvPr id="3" name="chart-card"/>
          <p:cNvSpPr/>
          <p:nvPr/>
        </p:nvSpPr>
        <p:spPr>
          <a:xfrm>
            <a:off x="548640" y="1417320"/>
            <a:ext cx="5852160" cy="4663440"/>
          </a:xfrm>
          <a:prstGeom prst="roundRect">
            <a:avLst>
              <a:gd name="adj" fmla="val 2353"/>
            </a:avLst>
          </a:prstGeom>
          <a:solidFill>
            <a:schemeClr val="bg2"/>
          </a:solidFill>
          <a:ln/>
          <a:effectLst>
            <a:outerShdw sx="100000" sy="100000" kx="0" ky="0" algn="bl" rotWithShape="0" blurRad="101600" dist="25400" dir="5400000">
              <a:srgbClr val="1F3A2B">
                <a:alpha val="12000"/>
              </a:srgbClr>
            </a:outerShdw>
          </a:effectLst>
        </p:spPr>
      </p:sp>
      <p:graphicFrame>
        <p:nvGraphicFramePr>
          <p:cNvPr id="4" name="Chart 0" descr=""/>
          <p:cNvGraphicFramePr/>
          <p:nvPr/>
        </p:nvGraphicFramePr>
        <p:xfrm>
          <a:off x="731520" y="1554480"/>
          <a:ext cx="5486400" cy="4389120"/>
        </p:xfrm>
        <a:graphic xmlns:a="http://schemas.openxmlformats.org/drawingml/2006/main">
          <a:graphicData uri="http://schemas.openxmlformats.org/drawingml/2006/chart">
            <c:chart xmlns:c="http://schemas.openxmlformats.org/drawingml/2006/chart" r:id="rId1"/>
          </a:graphicData>
        </a:graphic>
      </p:graphicFrame>
      <p:sp>
        <p:nvSpPr>
          <p:cNvPr id="5" name="check-1"/>
          <p:cNvSpPr/>
          <p:nvPr/>
        </p:nvSpPr>
        <p:spPr>
          <a:xfrm>
            <a:off x="6766560" y="1417320"/>
            <a:ext cx="4873752" cy="1051560"/>
          </a:xfrm>
          <a:prstGeom prst="roundRect">
            <a:avLst>
              <a:gd name="adj" fmla="val 10435"/>
            </a:avLst>
          </a:prstGeom>
          <a:solidFill>
            <a:schemeClr val="bg2"/>
          </a:solidFill>
          <a:ln/>
          <a:effectLst>
            <a:outerShdw sx="100000" sy="100000" kx="0" ky="0" algn="bl" rotWithShape="0" blurRad="101600" dist="25400" dir="5400000">
              <a:srgbClr val="1F3A2B">
                <a:alpha val="12000"/>
              </a:srgbClr>
            </a:outerShdw>
          </a:effectLst>
        </p:spPr>
      </p:sp>
      <p:sp>
        <p:nvSpPr>
          <p:cNvPr id="6" name="Text 3"/>
          <p:cNvSpPr txBox="1"/>
          <p:nvPr/>
        </p:nvSpPr>
        <p:spPr>
          <a:xfrm>
            <a:off x="6995160" y="1554480"/>
            <a:ext cx="4434840" cy="274320"/>
          </a:xfrm>
          <a:prstGeom prst="rect">
            <a:avLst/>
          </a:prstGeom>
          <a:noFill/>
          <a:ln/>
        </p:spPr>
        <p:txBody>
          <a:bodyPr wrap="square" lIns="0" tIns="0" rIns="0" bIns="0" rtlCol="0" anchor="t"/>
          <a:lstStyle/>
          <a:p>
            <a:pPr indent="0" marL="0">
              <a:buNone/>
            </a:pPr>
            <a:r>
              <a:rPr lang="en-US" sz="1600" b="1" dirty="0">
                <a:solidFill>
                  <a:schemeClr val="tx1"/>
                </a:solidFill>
              </a:rPr>
              <a:t>One car, one row</a:t>
            </a:r>
            <a:endParaRPr lang="en-US" sz="1600" dirty="0"/>
          </a:p>
        </p:txBody>
      </p:sp>
      <p:sp>
        <p:nvSpPr>
          <p:cNvPr id="7" name="Text 4"/>
          <p:cNvSpPr txBox="1"/>
          <p:nvPr/>
        </p:nvSpPr>
        <p:spPr>
          <a:xfrm>
            <a:off x="6995160" y="1874520"/>
            <a:ext cx="4434840" cy="548640"/>
          </a:xfrm>
          <a:prstGeom prst="rect">
            <a:avLst/>
          </a:prstGeom>
          <a:noFill/>
          <a:ln/>
        </p:spPr>
        <p:txBody>
          <a:bodyPr wrap="square" lIns="0" tIns="0" rIns="0" bIns="0" rtlCol="0" anchor="t"/>
          <a:lstStyle/>
          <a:p>
            <a:pPr indent="0" marL="0">
              <a:buNone/>
            </a:pPr>
            <a:r>
              <a:rPr lang="en-US" sz="1400" dirty="0">
                <a:solidFill>
                  <a:schemeClr val="tx1"/>
                </a:solidFill>
              </a:rPr>
              <a:t>A car idling at the gate shows up as one row in the batch table, not seven.</a:t>
            </a:r>
            <a:endParaRPr lang="en-US" sz="1400" dirty="0"/>
          </a:p>
        </p:txBody>
      </p:sp>
      <p:sp>
        <p:nvSpPr>
          <p:cNvPr id="8" name="check-2"/>
          <p:cNvSpPr/>
          <p:nvPr/>
        </p:nvSpPr>
        <p:spPr>
          <a:xfrm>
            <a:off x="6766560" y="2606040"/>
            <a:ext cx="4873752" cy="1051560"/>
          </a:xfrm>
          <a:prstGeom prst="roundRect">
            <a:avLst>
              <a:gd name="adj" fmla="val 10435"/>
            </a:avLst>
          </a:prstGeom>
          <a:solidFill>
            <a:schemeClr val="bg2"/>
          </a:solidFill>
          <a:ln/>
          <a:effectLst>
            <a:outerShdw sx="100000" sy="100000" kx="0" ky="0" algn="bl" rotWithShape="0" blurRad="101600" dist="25400" dir="5400000">
              <a:srgbClr val="1F3A2B">
                <a:alpha val="12000"/>
              </a:srgbClr>
            </a:outerShdw>
          </a:effectLst>
        </p:spPr>
      </p:sp>
      <p:sp>
        <p:nvSpPr>
          <p:cNvPr id="9" name="Text 6"/>
          <p:cNvSpPr txBox="1"/>
          <p:nvPr/>
        </p:nvSpPr>
        <p:spPr>
          <a:xfrm>
            <a:off x="6995160" y="2743200"/>
            <a:ext cx="4434840" cy="274320"/>
          </a:xfrm>
          <a:prstGeom prst="rect">
            <a:avLst/>
          </a:prstGeom>
          <a:noFill/>
          <a:ln/>
        </p:spPr>
        <p:txBody>
          <a:bodyPr wrap="square" lIns="0" tIns="0" rIns="0" bIns="0" rtlCol="0" anchor="t"/>
          <a:lstStyle/>
          <a:p>
            <a:pPr indent="0" marL="0">
              <a:buNone/>
            </a:pPr>
            <a:r>
              <a:rPr lang="en-US" sz="1600" b="1" dirty="0">
                <a:solidFill>
                  <a:schemeClr val="tx1"/>
                </a:solidFill>
              </a:rPr>
              <a:t>Two cars stay two</a:t>
            </a:r>
            <a:endParaRPr lang="en-US" sz="1600" dirty="0"/>
          </a:p>
        </p:txBody>
      </p:sp>
      <p:sp>
        <p:nvSpPr>
          <p:cNvPr id="10" name="Text 7"/>
          <p:cNvSpPr txBox="1"/>
          <p:nvPr/>
        </p:nvSpPr>
        <p:spPr>
          <a:xfrm>
            <a:off x="6995160" y="3063240"/>
            <a:ext cx="4434840" cy="548640"/>
          </a:xfrm>
          <a:prstGeom prst="rect">
            <a:avLst/>
          </a:prstGeom>
          <a:noFill/>
          <a:ln/>
        </p:spPr>
        <p:txBody>
          <a:bodyPr wrap="square" lIns="0" tIns="0" rIns="0" bIns="0" rtlCol="0" anchor="t"/>
          <a:lstStyle/>
          <a:p>
            <a:pPr indent="0" marL="0">
              <a:buNone/>
            </a:pPr>
            <a:r>
              <a:rPr lang="en-US" sz="1400" dirty="0">
                <a:solidFill>
                  <a:schemeClr val="tx1"/>
                </a:solidFill>
              </a:rPr>
              <a:t>Different tags at the same plaza in the same window both survive.</a:t>
            </a:r>
            <a:endParaRPr lang="en-US" sz="1400" dirty="0"/>
          </a:p>
        </p:txBody>
      </p:sp>
      <p:sp>
        <p:nvSpPr>
          <p:cNvPr id="11" name="check-3"/>
          <p:cNvSpPr/>
          <p:nvPr/>
        </p:nvSpPr>
        <p:spPr>
          <a:xfrm>
            <a:off x="6766560" y="3794760"/>
            <a:ext cx="4873752" cy="1051560"/>
          </a:xfrm>
          <a:prstGeom prst="roundRect">
            <a:avLst>
              <a:gd name="adj" fmla="val 10435"/>
            </a:avLst>
          </a:prstGeom>
          <a:solidFill>
            <a:schemeClr val="bg2"/>
          </a:solidFill>
          <a:ln/>
          <a:effectLst>
            <a:outerShdw sx="100000" sy="100000" kx="0" ky="0" algn="bl" rotWithShape="0" blurRad="101600" dist="25400" dir="5400000">
              <a:srgbClr val="1F3A2B">
                <a:alpha val="12000"/>
              </a:srgbClr>
            </a:outerShdw>
          </a:effectLst>
        </p:spPr>
      </p:sp>
      <p:sp>
        <p:nvSpPr>
          <p:cNvPr id="12" name="Text 9"/>
          <p:cNvSpPr txBox="1"/>
          <p:nvPr/>
        </p:nvSpPr>
        <p:spPr>
          <a:xfrm>
            <a:off x="6995160" y="3931920"/>
            <a:ext cx="4434840" cy="274320"/>
          </a:xfrm>
          <a:prstGeom prst="rect">
            <a:avLst/>
          </a:prstGeom>
          <a:noFill/>
          <a:ln/>
        </p:spPr>
        <p:txBody>
          <a:bodyPr wrap="square" lIns="0" tIns="0" rIns="0" bIns="0" rtlCol="0" anchor="t"/>
          <a:lstStyle/>
          <a:p>
            <a:pPr indent="0" marL="0">
              <a:buNone/>
            </a:pPr>
            <a:r>
              <a:rPr lang="en-US" sz="1600" b="1" dirty="0">
                <a:solidFill>
                  <a:schemeClr val="tx1"/>
                </a:solidFill>
              </a:rPr>
              <a:t>Raw table untouched</a:t>
            </a:r>
            <a:endParaRPr lang="en-US" sz="1600" dirty="0"/>
          </a:p>
        </p:txBody>
      </p:sp>
      <p:sp>
        <p:nvSpPr>
          <p:cNvPr id="13" name="Text 10"/>
          <p:cNvSpPr txBox="1"/>
          <p:nvPr/>
        </p:nvSpPr>
        <p:spPr>
          <a:xfrm>
            <a:off x="6995160" y="4251960"/>
            <a:ext cx="4434840" cy="548640"/>
          </a:xfrm>
          <a:prstGeom prst="rect">
            <a:avLst/>
          </a:prstGeom>
          <a:noFill/>
          <a:ln/>
        </p:spPr>
        <p:txBody>
          <a:bodyPr wrap="square" lIns="0" tIns="0" rIns="0" bIns="0" rtlCol="0" anchor="t"/>
          <a:lstStyle/>
          <a:p>
            <a:pPr indent="0" marL="0">
              <a:buNone/>
            </a:pPr>
            <a:r>
              <a:rPr lang="en-US" sz="1400" dirty="0">
                <a:solidFill>
                  <a:schemeClr val="tx1"/>
                </a:solidFill>
              </a:rPr>
              <a:t>After a run, the NoSQL table still has all 12 rows.</a:t>
            </a:r>
            <a:endParaRPr lang="en-US" sz="1400" dirty="0"/>
          </a:p>
        </p:txBody>
      </p:sp>
      <p:sp>
        <p:nvSpPr>
          <p:cNvPr id="14" name="check-4"/>
          <p:cNvSpPr/>
          <p:nvPr/>
        </p:nvSpPr>
        <p:spPr>
          <a:xfrm>
            <a:off x="6766560" y="4983480"/>
            <a:ext cx="4873752" cy="1051560"/>
          </a:xfrm>
          <a:prstGeom prst="roundRect">
            <a:avLst>
              <a:gd name="adj" fmla="val 10435"/>
            </a:avLst>
          </a:prstGeom>
          <a:solidFill>
            <a:schemeClr val="accent2">
              <a:alpha val="35000"/>
            </a:schemeClr>
          </a:solidFill>
          <a:ln/>
        </p:spPr>
      </p:sp>
      <p:sp>
        <p:nvSpPr>
          <p:cNvPr id="15" name="Text 12"/>
          <p:cNvSpPr txBox="1"/>
          <p:nvPr/>
        </p:nvSpPr>
        <p:spPr>
          <a:xfrm>
            <a:off x="6995160" y="5120640"/>
            <a:ext cx="4434840" cy="274320"/>
          </a:xfrm>
          <a:prstGeom prst="rect">
            <a:avLst/>
          </a:prstGeom>
          <a:noFill/>
          <a:ln/>
        </p:spPr>
        <p:txBody>
          <a:bodyPr wrap="square" lIns="0" tIns="0" rIns="0" bIns="0" rtlCol="0" anchor="t"/>
          <a:lstStyle/>
          <a:p>
            <a:pPr indent="0" marL="0">
              <a:buNone/>
            </a:pPr>
            <a:r>
              <a:rPr lang="en-US" sz="1600" b="1" dirty="0">
                <a:solidFill>
                  <a:schemeClr val="tx1"/>
                </a:solidFill>
              </a:rPr>
              <a:t>The edge we haven't solved</a:t>
            </a:r>
            <a:endParaRPr lang="en-US" sz="1600" dirty="0"/>
          </a:p>
        </p:txBody>
      </p:sp>
      <p:sp>
        <p:nvSpPr>
          <p:cNvPr id="16" name="Text 13"/>
          <p:cNvSpPr txBox="1"/>
          <p:nvPr/>
        </p:nvSpPr>
        <p:spPr>
          <a:xfrm>
            <a:off x="6995160" y="5440680"/>
            <a:ext cx="4434840" cy="548640"/>
          </a:xfrm>
          <a:prstGeom prst="rect">
            <a:avLst/>
          </a:prstGeom>
          <a:noFill/>
          <a:ln/>
        </p:spPr>
        <p:txBody>
          <a:bodyPr wrap="square" lIns="0" tIns="0" rIns="0" bIns="0" rtlCol="0" anchor="t"/>
          <a:lstStyle/>
          <a:p>
            <a:pPr indent="0" marL="0">
              <a:buNone/>
            </a:pPr>
            <a:r>
              <a:rPr lang="en-US" sz="1400" dirty="0">
                <a:solidFill>
                  <a:schemeClr val="tx1"/>
                </a:solidFill>
              </a:rPr>
              <a:t>A car sitting across a window boundary can come out as two events.</a:t>
            </a:r>
            <a:endParaRPr lang="en-US" sz="1400" dirty="0"/>
          </a:p>
        </p:txBody>
      </p:sp>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What's left for DA-3</a:t>
            </a:r>
            <a:endParaRPr lang="en-US" sz="3400" dirty="0"/>
          </a:p>
        </p:txBody>
      </p:sp>
      <p:sp>
        <p:nvSpPr>
          <p:cNvPr id="3" name="gaps-card"/>
          <p:cNvSpPr/>
          <p:nvPr/>
        </p:nvSpPr>
        <p:spPr>
          <a:xfrm>
            <a:off x="548640" y="1417320"/>
            <a:ext cx="5394960" cy="3840480"/>
          </a:xfrm>
          <a:prstGeom prst="roundRect">
            <a:avLst>
              <a:gd name="adj" fmla="val 2857"/>
            </a:avLst>
          </a:prstGeom>
          <a:solidFill>
            <a:schemeClr val="bg2"/>
          </a:solidFill>
          <a:ln/>
          <a:effectLst>
            <a:outerShdw sx="100000" sy="100000" kx="0" ky="0" algn="bl" rotWithShape="0" blurRad="101600" dist="25400" dir="5400000">
              <a:srgbClr val="1F3A2B">
                <a:alpha val="12000"/>
              </a:srgbClr>
            </a:outerShdw>
          </a:effectLst>
        </p:spPr>
      </p:sp>
      <p:sp>
        <p:nvSpPr>
          <p:cNvPr id="4" name="Text 2"/>
          <p:cNvSpPr txBox="1"/>
          <p:nvPr/>
        </p:nvSpPr>
        <p:spPr>
          <a:xfrm>
            <a:off x="822960" y="1645920"/>
            <a:ext cx="4846320" cy="365760"/>
          </a:xfrm>
          <a:prstGeom prst="rect">
            <a:avLst/>
          </a:prstGeom>
          <a:noFill/>
          <a:ln/>
        </p:spPr>
        <p:txBody>
          <a:bodyPr wrap="square" lIns="0" tIns="0" rIns="0" bIns="0" rtlCol="0" anchor="t"/>
          <a:lstStyle/>
          <a:p>
            <a:pPr indent="0" marL="0">
              <a:buNone/>
            </a:pPr>
            <a:r>
              <a:rPr lang="en-US" sz="2000" b="1" dirty="0">
                <a:solidFill>
                  <a:schemeClr val="tx1"/>
                </a:solidFill>
              </a:rPr>
              <a:t>Gaps we know about</a:t>
            </a:r>
            <a:endParaRPr lang="en-US" sz="2000" dirty="0"/>
          </a:p>
        </p:txBody>
      </p:sp>
      <p:sp>
        <p:nvSpPr>
          <p:cNvPr id="5" name="Text 3"/>
          <p:cNvSpPr txBox="1"/>
          <p:nvPr/>
        </p:nvSpPr>
        <p:spPr>
          <a:xfrm>
            <a:off x="822960" y="2148840"/>
            <a:ext cx="4846320" cy="30175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The batch output is not connected to the SQL ledger yet, so no money moves.</a:t>
            </a:r>
            <a:endParaRPr lang="en-US" sz="1800" dirty="0"/>
          </a:p>
          <a:p>
            <a:pPr marL="342900" indent="-342900">
              <a:spcAft>
                <a:spcPts val="1400"/>
              </a:spcAft>
              <a:buSzPct val="100000"/>
              <a:buChar char="•"/>
            </a:pPr>
            <a:r>
              <a:rPr lang="en-US" sz="1800" dirty="0">
                <a:solidFill>
                  <a:schemeClr val="tx1"/>
                </a:solidFill>
              </a:rPr>
              <a:t>BLOCKED tags are not checked at this stage. The ledger side will do that.</a:t>
            </a:r>
            <a:endParaRPr lang="en-US" sz="1800" dirty="0"/>
          </a:p>
          <a:p>
            <a:pPr marL="342900" indent="-342900">
              <a:spcAft>
                <a:spcPts val="1400"/>
              </a:spcAft>
              <a:buSzPct val="100000"/>
              <a:buChar char="•"/>
            </a:pPr>
            <a:r>
              <a:rPr lang="en-US" sz="1800" dirty="0">
                <a:solidFill>
                  <a:schemeClr val="tx1"/>
                </a:solidFill>
              </a:rPr>
              <a:t>One car spread over two windows can be counted twice.</a:t>
            </a:r>
            <a:endParaRPr lang="en-US" sz="1800" dirty="0"/>
          </a:p>
          <a:p>
            <a:pPr marL="342900" indent="-342900">
              <a:buSzPct val="100000"/>
              <a:buChar char="•"/>
            </a:pPr>
            <a:r>
              <a:rPr lang="en-US" sz="1800" dirty="0">
                <a:solidFill>
                  <a:schemeClr val="tx1"/>
                </a:solidFill>
              </a:rPr>
              <a:t>Load testing at 10,000 pings a second is still to do.</a:t>
            </a:r>
            <a:endParaRPr lang="en-US" sz="1800" dirty="0"/>
          </a:p>
        </p:txBody>
      </p:sp>
      <p:sp>
        <p:nvSpPr>
          <p:cNvPr id="6" name="plan-card"/>
          <p:cNvSpPr/>
          <p:nvPr/>
        </p:nvSpPr>
        <p:spPr>
          <a:xfrm>
            <a:off x="6263640" y="1417320"/>
            <a:ext cx="5376672" cy="3840480"/>
          </a:xfrm>
          <a:prstGeom prst="roundRect">
            <a:avLst>
              <a:gd name="adj" fmla="val 2857"/>
            </a:avLst>
          </a:prstGeom>
          <a:solidFill>
            <a:schemeClr val="accent4"/>
          </a:solidFill>
          <a:ln/>
        </p:spPr>
      </p:sp>
      <p:sp>
        <p:nvSpPr>
          <p:cNvPr id="7" name="Text 5"/>
          <p:cNvSpPr txBox="1"/>
          <p:nvPr/>
        </p:nvSpPr>
        <p:spPr>
          <a:xfrm>
            <a:off x="6537960" y="1645920"/>
            <a:ext cx="4846320" cy="365760"/>
          </a:xfrm>
          <a:prstGeom prst="rect">
            <a:avLst/>
          </a:prstGeom>
          <a:noFill/>
          <a:ln/>
        </p:spPr>
        <p:txBody>
          <a:bodyPr wrap="square" lIns="0" tIns="0" rIns="0" bIns="0" rtlCol="0" anchor="t"/>
          <a:lstStyle/>
          <a:p>
            <a:pPr indent="0" marL="0">
              <a:buNone/>
            </a:pPr>
            <a:r>
              <a:rPr lang="en-US" sz="2000" b="1" dirty="0">
                <a:solidFill>
                  <a:schemeClr val="tx1"/>
                </a:solidFill>
              </a:rPr>
              <a:t>Plan for DA-3</a:t>
            </a:r>
            <a:endParaRPr lang="en-US" sz="2000" dirty="0"/>
          </a:p>
        </p:txBody>
      </p:sp>
      <p:sp>
        <p:nvSpPr>
          <p:cNvPr id="8" name="Text 6"/>
          <p:cNvSpPr txBox="1"/>
          <p:nvPr/>
        </p:nvSpPr>
        <p:spPr>
          <a:xfrm>
            <a:off x="6537960" y="2148840"/>
            <a:ext cx="4846320" cy="301752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1800" dirty="0">
                <a:solidFill>
                  <a:schemeClr val="tx1"/>
                </a:solidFill>
              </a:rPr>
              <a:t>Build the ledger in PostgreSQL or MySQL from the DA‑1 schema.</a:t>
            </a:r>
            <a:endParaRPr lang="en-US" sz="1800" dirty="0"/>
          </a:p>
          <a:p>
            <a:pPr marL="342900" indent="-342900">
              <a:spcAft>
                <a:spcPts val="1400"/>
              </a:spcAft>
              <a:buSzPct val="100000"/>
              <a:buFont typeface="+mj-lt"/>
              <a:buAutoNum type="arabicPeriod" startAt="1"/>
            </a:pPr>
            <a:r>
              <a:rPr lang="en-US" sz="1800" dirty="0">
                <a:solidFill>
                  <a:schemeClr val="tx1"/>
                </a:solidFill>
              </a:rPr>
              <a:t>Make the batch processor call Process_Toll_Batch for each kept ping.</a:t>
            </a:r>
            <a:endParaRPr lang="en-US" sz="1800" dirty="0"/>
          </a:p>
          <a:p>
            <a:pPr marL="342900" indent="-342900">
              <a:spcAft>
                <a:spcPts val="1400"/>
              </a:spcAft>
              <a:buSzPct val="100000"/>
              <a:buFont typeface="+mj-lt"/>
              <a:buAutoNum type="arabicPeriod" startAt="1"/>
            </a:pPr>
            <a:r>
              <a:rPr lang="en-US" sz="1800" dirty="0">
                <a:solidFill>
                  <a:schemeClr val="tx1"/>
                </a:solidFill>
              </a:rPr>
              <a:t>Decide what to do with cars that sit across two windows.</a:t>
            </a:r>
            <a:endParaRPr lang="en-US" sz="1800" dirty="0"/>
          </a:p>
          <a:p>
            <a:pPr marL="342900" indent="-342900">
              <a:buSzPct val="100000"/>
              <a:buFont typeface="+mj-lt"/>
              <a:buAutoNum type="arabicPeriod" startAt="1"/>
            </a:pPr>
            <a:r>
              <a:rPr lang="en-US" sz="1800" dirty="0">
                <a:solidFill>
                  <a:schemeClr val="tx1"/>
                </a:solidFill>
              </a:rPr>
              <a:t>Run a load test and see where it breaks.</a:t>
            </a:r>
            <a:endParaRPr lang="en-US" sz="1800" dirty="0"/>
          </a:p>
        </p:txBody>
      </p:sp>
      <p:sp>
        <p:nvSpPr>
          <p:cNvPr id="9" name="Text 7"/>
          <p:cNvSpPr txBox="1"/>
          <p:nvPr/>
        </p:nvSpPr>
        <p:spPr>
          <a:xfrm>
            <a:off x="548640" y="5577840"/>
            <a:ext cx="7315200" cy="457200"/>
          </a:xfrm>
          <a:prstGeom prst="rect">
            <a:avLst/>
          </a:prstGeom>
          <a:noFill/>
          <a:ln/>
        </p:spPr>
        <p:txBody>
          <a:bodyPr wrap="square" lIns="0" tIns="0" rIns="0" bIns="0" rtlCol="0" anchor="t"/>
          <a:lstStyle/>
          <a:p>
            <a:pPr indent="0" marL="0">
              <a:buNone/>
            </a:pPr>
            <a:r>
              <a:rPr lang="en-US" sz="2400" b="1" dirty="0">
                <a:solidFill>
                  <a:schemeClr val="tx1"/>
                </a:solidFill>
              </a:rPr>
              <a:t>Thank you. Questions?</a:t>
            </a:r>
            <a:endParaRPr lang="en-US" sz="2400" dirty="0"/>
          </a:p>
        </p:txBody>
      </p:sp>
      <p:sp>
        <p:nvSpPr>
          <p:cNvPr id="25" name="Slide Number Placeholder 0"/>
          <p:cNvSpPr>
            <a:spLocks noGrp="1"/>
          </p:cNvSpPr>
          <p:nvPr>
            <p:ph type="sldNum" sz="quarter" idx="4294967295"/>
          </p:nvPr>
        </p:nvSpPr>
        <p:spPr>
          <a:xfrm>
            <a:off x="10881360" y="6382512"/>
            <a:ext cx="758952"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Toll Road Green">
  <a:themeElements>
    <a:clrScheme name="Toll Road Green">
      <a:dk1>
        <a:srgbClr val="1F3A2B"/>
      </a:dk1>
      <a:lt1>
        <a:srgbClr val="E3F0DF"/>
      </a:lt1>
      <a:dk2>
        <a:srgbClr val="2F6B4A"/>
      </a:dk2>
      <a:lt2>
        <a:srgbClr val="FFFFFF"/>
      </a:lt2>
      <a:accent1>
        <a:srgbClr val="2F6B4A"/>
      </a:accent1>
      <a:accent2>
        <a:srgbClr val="E8A91F"/>
      </a:accent2>
      <a:accent3>
        <a:srgbClr val="8CBF9A"/>
      </a:accent3>
      <a:accent4>
        <a:srgbClr val="CFE5C9"/>
      </a:accent4>
      <a:accent5>
        <a:srgbClr val="B5483A"/>
      </a:accent5>
      <a:accent6>
        <a:srgbClr val="5B7F6B"/>
      </a:accent6>
      <a:hlink>
        <a:srgbClr val="2F6B4A"/>
      </a:hlink>
      <a:folHlink>
        <a:srgbClr val="5B7F6B"/>
      </a:folHlink>
    </a:clrScheme>
    <a:fontScheme name="Toll Road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FASTag Toll Ledger - DA-2</dc:title>
  <dc:subject>PptxGenJS Presentation</dc:subject>
  <dc:creator>Saifan Mohideen, Vedant Rajesh Mathapati, Ramsha Riyasat Fatima</dc:creator>
  <cp:lastModifiedBy>Saifan Mohideen, Vedant Rajesh Mathapati, Ramsha Riyasat Fatima</cp:lastModifiedBy>
  <cp:revision>1</cp:revision>
  <dcterms:created xsi:type="dcterms:W3CDTF">2026-10-12T10:38:52Z</dcterms:created>
  <dcterms:modified xsi:type="dcterms:W3CDTF">2026-10-12T10:38:52Z</dcterms:modified>
</cp:coreProperties>
</file>